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  <p:sldId id="557" r:id="rId5"/>
    <p:sldId id="626" r:id="rId6"/>
    <p:sldId id="627" r:id="rId7"/>
    <p:sldId id="628" r:id="rId8"/>
    <p:sldId id="709" r:id="rId9"/>
    <p:sldId id="712" r:id="rId10"/>
    <p:sldId id="713" r:id="rId11"/>
    <p:sldId id="715" r:id="rId12"/>
    <p:sldId id="714" r:id="rId13"/>
    <p:sldId id="716" r:id="rId14"/>
    <p:sldId id="718" r:id="rId15"/>
    <p:sldId id="719" r:id="rId16"/>
    <p:sldId id="720" r:id="rId17"/>
    <p:sldId id="721" r:id="rId18"/>
    <p:sldId id="722" r:id="rId19"/>
    <p:sldId id="723" r:id="rId20"/>
    <p:sldId id="724" r:id="rId21"/>
    <p:sldId id="725" r:id="rId22"/>
    <p:sldId id="726" r:id="rId23"/>
    <p:sldId id="727" r:id="rId24"/>
    <p:sldId id="728" r:id="rId25"/>
    <p:sldId id="729" r:id="rId26"/>
    <p:sldId id="730" r:id="rId27"/>
    <p:sldId id="731" r:id="rId28"/>
    <p:sldId id="708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6087"/>
    <a:srgbClr val="3C5881"/>
    <a:srgbClr val="A4B7D4"/>
    <a:srgbClr val="EDEDED"/>
    <a:srgbClr val="9A574D"/>
    <a:srgbClr val="F5C97A"/>
    <a:srgbClr val="F0B45A"/>
    <a:srgbClr val="B8282E"/>
    <a:srgbClr val="DC4E41"/>
    <a:srgbClr val="23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3528" autoAdjust="0"/>
  </p:normalViewPr>
  <p:slideViewPr>
    <p:cSldViewPr snapToGrid="0" showGuides="1">
      <p:cViewPr varScale="1">
        <p:scale>
          <a:sx n="78" d="100"/>
          <a:sy n="78" d="100"/>
        </p:scale>
        <p:origin x="256" y="6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783F24-5C15-4D68-A484-913DE326CD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181727-A34B-4640-B93E-0686B6355DC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987330" y="467575"/>
            <a:ext cx="1391400" cy="432133"/>
            <a:chOff x="9987330" y="467575"/>
            <a:chExt cx="1391400" cy="432133"/>
          </a:xfrm>
        </p:grpSpPr>
        <p:sp>
          <p:nvSpPr>
            <p:cNvPr id="51" name="Freeform 270"/>
            <p:cNvSpPr/>
            <p:nvPr/>
          </p:nvSpPr>
          <p:spPr bwMode="auto">
            <a:xfrm>
              <a:off x="9987330" y="469580"/>
              <a:ext cx="262188" cy="277227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10496917" y="486876"/>
              <a:ext cx="185988" cy="242637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10958878" y="514448"/>
              <a:ext cx="180724" cy="205539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11163415" y="467575"/>
              <a:ext cx="215315" cy="162928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11175196" y="575859"/>
              <a:ext cx="143627" cy="172703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10676889" y="476598"/>
              <a:ext cx="275222" cy="317583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10723260" y="487878"/>
              <a:ext cx="84973" cy="57401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10304412" y="563828"/>
              <a:ext cx="117558" cy="179220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10267565" y="473590"/>
              <a:ext cx="188746" cy="91490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10389133" y="645041"/>
              <a:ext cx="62414" cy="58152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10274082" y="683391"/>
              <a:ext cx="46623" cy="33839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9999111" y="829023"/>
              <a:ext cx="55646" cy="55145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0060272" y="828272"/>
              <a:ext cx="59406" cy="55646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0126193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0188106" y="829023"/>
              <a:ext cx="23562" cy="70685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0222447" y="829023"/>
              <a:ext cx="20053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10254029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10320203" y="828272"/>
              <a:ext cx="50382" cy="56398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10408936" y="829023"/>
              <a:ext cx="68179" cy="54894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10488645" y="829023"/>
              <a:ext cx="44868" cy="54894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10544541" y="829023"/>
              <a:ext cx="53139" cy="54894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10609211" y="829023"/>
              <a:ext cx="20053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10640544" y="828272"/>
              <a:ext cx="43866" cy="56398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10689923" y="828272"/>
              <a:ext cx="59656" cy="55646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10756097" y="829023"/>
              <a:ext cx="43615" cy="54894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10836056" y="829023"/>
              <a:ext cx="54894" cy="55646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10900726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10967150" y="829023"/>
              <a:ext cx="19802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10993720" y="829023"/>
              <a:ext cx="57902" cy="55646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11057387" y="829023"/>
              <a:ext cx="44868" cy="54894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11113534" y="829023"/>
              <a:ext cx="54393" cy="54894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11173442" y="828272"/>
              <a:ext cx="38350" cy="56398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11222069" y="829023"/>
              <a:ext cx="20303" cy="54894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11251145" y="829023"/>
              <a:ext cx="51385" cy="54894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11306541" y="829023"/>
              <a:ext cx="55145" cy="54894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86" name="图片 8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099" y="412165"/>
            <a:ext cx="388766" cy="515116"/>
          </a:xfrm>
          <a:prstGeom prst="rect">
            <a:avLst/>
          </a:prstGeom>
        </p:spPr>
      </p:pic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: 剪去单角 94"/>
          <p:cNvSpPr/>
          <p:nvPr userDrawn="1"/>
        </p:nvSpPr>
        <p:spPr>
          <a:xfrm>
            <a:off x="0" y="417084"/>
            <a:ext cx="590299" cy="611358"/>
          </a:xfrm>
          <a:prstGeom prst="snip1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01473" y="304493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0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97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 userDrawn="1"/>
        </p:nvSpPr>
        <p:spPr>
          <a:xfrm>
            <a:off x="0" y="1766854"/>
            <a:ext cx="12192000" cy="313897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4833184" y="812181"/>
            <a:ext cx="2525633" cy="669707"/>
            <a:chOff x="4424897" y="1351534"/>
            <a:chExt cx="3151707" cy="835719"/>
          </a:xfrm>
        </p:grpSpPr>
        <p:sp>
          <p:nvSpPr>
            <p:cNvPr id="58" name="Freeform 270"/>
            <p:cNvSpPr/>
            <p:nvPr/>
          </p:nvSpPr>
          <p:spPr bwMode="auto">
            <a:xfrm>
              <a:off x="5319209" y="1444684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1"/>
            <p:cNvSpPr/>
            <p:nvPr/>
          </p:nvSpPr>
          <p:spPr bwMode="auto">
            <a:xfrm>
              <a:off x="6145958" y="1472744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2"/>
            <p:cNvSpPr/>
            <p:nvPr/>
          </p:nvSpPr>
          <p:spPr bwMode="auto">
            <a:xfrm>
              <a:off x="6895440" y="1517477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73"/>
            <p:cNvSpPr>
              <a:spLocks noEditPoints="1"/>
            </p:cNvSpPr>
            <p:nvPr/>
          </p:nvSpPr>
          <p:spPr bwMode="auto">
            <a:xfrm>
              <a:off x="7227279" y="1441431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4"/>
            <p:cNvSpPr>
              <a:spLocks noEditPoints="1"/>
            </p:cNvSpPr>
            <p:nvPr/>
          </p:nvSpPr>
          <p:spPr bwMode="auto">
            <a:xfrm>
              <a:off x="7246392" y="1617110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75"/>
            <p:cNvSpPr/>
            <p:nvPr/>
          </p:nvSpPr>
          <p:spPr bwMode="auto">
            <a:xfrm>
              <a:off x="6437944" y="1456070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76"/>
            <p:cNvSpPr/>
            <p:nvPr/>
          </p:nvSpPr>
          <p:spPr bwMode="auto">
            <a:xfrm>
              <a:off x="6513176" y="1474370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77"/>
            <p:cNvSpPr/>
            <p:nvPr/>
          </p:nvSpPr>
          <p:spPr bwMode="auto">
            <a:xfrm>
              <a:off x="5833640" y="1597590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6" name="Freeform 278"/>
            <p:cNvSpPr/>
            <p:nvPr/>
          </p:nvSpPr>
          <p:spPr bwMode="auto">
            <a:xfrm>
              <a:off x="5773860" y="1451190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79"/>
            <p:cNvSpPr/>
            <p:nvPr/>
          </p:nvSpPr>
          <p:spPr bwMode="auto">
            <a:xfrm>
              <a:off x="5971091" y="1729350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0"/>
            <p:cNvSpPr/>
            <p:nvPr/>
          </p:nvSpPr>
          <p:spPr bwMode="auto">
            <a:xfrm>
              <a:off x="5784433" y="1791569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1"/>
            <p:cNvSpPr/>
            <p:nvPr/>
          </p:nvSpPr>
          <p:spPr bwMode="auto">
            <a:xfrm>
              <a:off x="5338322" y="2027840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2"/>
            <p:cNvSpPr>
              <a:spLocks noEditPoints="1"/>
            </p:cNvSpPr>
            <p:nvPr/>
          </p:nvSpPr>
          <p:spPr bwMode="auto">
            <a:xfrm>
              <a:off x="5437549" y="2026621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3"/>
            <p:cNvSpPr/>
            <p:nvPr/>
          </p:nvSpPr>
          <p:spPr bwMode="auto">
            <a:xfrm>
              <a:off x="5544500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4"/>
            <p:cNvSpPr/>
            <p:nvPr/>
          </p:nvSpPr>
          <p:spPr bwMode="auto">
            <a:xfrm>
              <a:off x="5644947" y="2027840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85"/>
            <p:cNvSpPr/>
            <p:nvPr/>
          </p:nvSpPr>
          <p:spPr bwMode="auto">
            <a:xfrm>
              <a:off x="5700661" y="2027840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86"/>
            <p:cNvSpPr/>
            <p:nvPr/>
          </p:nvSpPr>
          <p:spPr bwMode="auto">
            <a:xfrm>
              <a:off x="5751900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87"/>
            <p:cNvSpPr/>
            <p:nvPr/>
          </p:nvSpPr>
          <p:spPr bwMode="auto">
            <a:xfrm>
              <a:off x="5859260" y="2026621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88"/>
            <p:cNvSpPr/>
            <p:nvPr/>
          </p:nvSpPr>
          <p:spPr bwMode="auto">
            <a:xfrm>
              <a:off x="6003219" y="2027840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89"/>
            <p:cNvSpPr/>
            <p:nvPr/>
          </p:nvSpPr>
          <p:spPr bwMode="auto">
            <a:xfrm>
              <a:off x="6132538" y="2027840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0"/>
            <p:cNvSpPr>
              <a:spLocks noEditPoints="1"/>
            </p:cNvSpPr>
            <p:nvPr/>
          </p:nvSpPr>
          <p:spPr bwMode="auto">
            <a:xfrm>
              <a:off x="6223224" y="2027840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1"/>
            <p:cNvSpPr/>
            <p:nvPr/>
          </p:nvSpPr>
          <p:spPr bwMode="auto">
            <a:xfrm>
              <a:off x="6328143" y="2027840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2"/>
            <p:cNvSpPr/>
            <p:nvPr/>
          </p:nvSpPr>
          <p:spPr bwMode="auto">
            <a:xfrm>
              <a:off x="6378977" y="2026621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3"/>
            <p:cNvSpPr>
              <a:spLocks noEditPoints="1"/>
            </p:cNvSpPr>
            <p:nvPr/>
          </p:nvSpPr>
          <p:spPr bwMode="auto">
            <a:xfrm>
              <a:off x="6459090" y="2026621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4"/>
            <p:cNvSpPr/>
            <p:nvPr/>
          </p:nvSpPr>
          <p:spPr bwMode="auto">
            <a:xfrm>
              <a:off x="6566450" y="2027840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95"/>
            <p:cNvSpPr/>
            <p:nvPr/>
          </p:nvSpPr>
          <p:spPr bwMode="auto">
            <a:xfrm>
              <a:off x="6696174" y="2027840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96"/>
            <p:cNvSpPr/>
            <p:nvPr/>
          </p:nvSpPr>
          <p:spPr bwMode="auto">
            <a:xfrm>
              <a:off x="6801094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97"/>
            <p:cNvSpPr/>
            <p:nvPr/>
          </p:nvSpPr>
          <p:spPr bwMode="auto">
            <a:xfrm>
              <a:off x="6908860" y="2027840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98"/>
            <p:cNvSpPr/>
            <p:nvPr/>
          </p:nvSpPr>
          <p:spPr bwMode="auto">
            <a:xfrm>
              <a:off x="6951967" y="2027840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99"/>
            <p:cNvSpPr/>
            <p:nvPr/>
          </p:nvSpPr>
          <p:spPr bwMode="auto">
            <a:xfrm>
              <a:off x="7055260" y="2027840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300"/>
            <p:cNvSpPr>
              <a:spLocks noEditPoints="1"/>
            </p:cNvSpPr>
            <p:nvPr/>
          </p:nvSpPr>
          <p:spPr bwMode="auto">
            <a:xfrm>
              <a:off x="7146353" y="2027840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301"/>
            <p:cNvSpPr/>
            <p:nvPr/>
          </p:nvSpPr>
          <p:spPr bwMode="auto">
            <a:xfrm>
              <a:off x="7243546" y="2026621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302"/>
            <p:cNvSpPr/>
            <p:nvPr/>
          </p:nvSpPr>
          <p:spPr bwMode="auto">
            <a:xfrm>
              <a:off x="7322438" y="2027840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303"/>
            <p:cNvSpPr/>
            <p:nvPr/>
          </p:nvSpPr>
          <p:spPr bwMode="auto">
            <a:xfrm>
              <a:off x="7369611" y="2027840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04"/>
            <p:cNvSpPr/>
            <p:nvPr/>
          </p:nvSpPr>
          <p:spPr bwMode="auto">
            <a:xfrm>
              <a:off x="7459485" y="2027840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4897" y="1351534"/>
              <a:ext cx="630731" cy="835719"/>
            </a:xfrm>
            <a:prstGeom prst="rect">
              <a:avLst/>
            </a:prstGeom>
          </p:spPr>
        </p:pic>
      </p:grpSp>
      <p:sp>
        <p:nvSpPr>
          <p:cNvPr id="138" name="标题 1"/>
          <p:cNvSpPr>
            <a:spLocks noGrp="1"/>
          </p:cNvSpPr>
          <p:nvPr>
            <p:ph type="title" hasCustomPrompt="1"/>
          </p:nvPr>
        </p:nvSpPr>
        <p:spPr>
          <a:xfrm>
            <a:off x="1567548" y="2336785"/>
            <a:ext cx="9056905" cy="70788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defRPr sz="4000" b="1" spc="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南京医科大学</a:t>
            </a:r>
            <a:endParaRPr lang="zh-CN" altLang="en-US" dirty="0"/>
          </a:p>
        </p:txBody>
      </p:sp>
      <p:sp>
        <p:nvSpPr>
          <p:cNvPr id="141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977286" y="5423909"/>
            <a:ext cx="6237428" cy="424732"/>
          </a:xfrm>
        </p:spPr>
        <p:txBody>
          <a:bodyPr wrap="square" anchor="ctr">
            <a:spAutoFit/>
          </a:bodyPr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 userDrawn="1"/>
        </p:nvSpPr>
        <p:spPr>
          <a:xfrm>
            <a:off x="0" y="2460456"/>
            <a:ext cx="12192000" cy="20162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/>
          <p:cNvSpPr/>
          <p:nvPr userDrawn="1"/>
        </p:nvSpPr>
        <p:spPr>
          <a:xfrm rot="10800000">
            <a:off x="2873646" y="4242560"/>
            <a:ext cx="653762" cy="56358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1" name="组合 90"/>
          <p:cNvGrpSpPr/>
          <p:nvPr userDrawn="1"/>
        </p:nvGrpSpPr>
        <p:grpSpPr>
          <a:xfrm>
            <a:off x="713386" y="1446438"/>
            <a:ext cx="3151707" cy="835719"/>
            <a:chOff x="713386" y="1446438"/>
            <a:chExt cx="3151707" cy="835719"/>
          </a:xfrm>
        </p:grpSpPr>
        <p:sp>
          <p:nvSpPr>
            <p:cNvPr id="92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00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7" name="图片 1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235" y="866887"/>
            <a:ext cx="3871637" cy="5124226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22595" y="2734948"/>
            <a:ext cx="6840089" cy="1446550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南京医科大学</a:t>
            </a:r>
            <a:br>
              <a:rPr lang="en-US" altLang="zh-CN" dirty="0"/>
            </a:br>
            <a:r>
              <a:rPr lang="zh-CN" altLang="en-US" dirty="0"/>
              <a:t>汇报答辩通用模板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8893" y="5043603"/>
            <a:ext cx="5314203" cy="424732"/>
          </a:xfr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/>
          <p:cNvSpPr/>
          <p:nvPr/>
        </p:nvSpPr>
        <p:spPr>
          <a:xfrm>
            <a:off x="669536" y="4685540"/>
            <a:ext cx="4531114" cy="52446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" name="直接连接符 55"/>
          <p:cNvCxnSpPr/>
          <p:nvPr userDrawn="1"/>
        </p:nvCxnSpPr>
        <p:spPr>
          <a:xfrm flipH="1">
            <a:off x="7743016" y="-88675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 userDrawn="1"/>
        </p:nvCxnSpPr>
        <p:spPr>
          <a:xfrm flipH="1">
            <a:off x="7437334" y="1662400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 userDrawn="1"/>
        </p:nvCxnSpPr>
        <p:spPr>
          <a:xfrm flipH="1">
            <a:off x="10943641" y="2934465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 userDrawn="1"/>
        </p:nvCxnSpPr>
        <p:spPr>
          <a:xfrm flipH="1">
            <a:off x="10637959" y="4685540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 userDrawn="1"/>
        </p:nvGrpSpPr>
        <p:grpSpPr>
          <a:xfrm>
            <a:off x="713386" y="1446438"/>
            <a:ext cx="3151707" cy="835719"/>
            <a:chOff x="713386" y="1446438"/>
            <a:chExt cx="3151707" cy="835719"/>
          </a:xfrm>
        </p:grpSpPr>
        <p:sp>
          <p:nvSpPr>
            <p:cNvPr id="92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00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7" name="图片 1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28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30138" y="2720594"/>
            <a:ext cx="6501514" cy="1446550"/>
          </a:xfrm>
          <a:noFill/>
        </p:spPr>
        <p:txBody>
          <a:bodyPr wrap="none" rtlCol="0">
            <a:noAutofit/>
          </a:bodyPr>
          <a:lstStyle>
            <a:lvl1pPr>
              <a:lnSpc>
                <a:spcPct val="100000"/>
              </a:lnSpc>
              <a:defRPr lang="zh-CN" altLang="en-US" sz="4400" b="1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4400" b="1" dirty="0">
                <a:solidFill>
                  <a:schemeClr val="accent1"/>
                </a:solidFill>
              </a:rPr>
              <a:t>南京医科大学</a:t>
            </a:r>
            <a:br>
              <a:rPr lang="zh-CN" altLang="en-US" sz="4400" b="1" dirty="0">
                <a:solidFill>
                  <a:schemeClr val="accent1"/>
                </a:solidFill>
              </a:rPr>
            </a:br>
            <a:r>
              <a:rPr lang="zh-CN" altLang="en-US" sz="4400" b="1" dirty="0">
                <a:solidFill>
                  <a:schemeClr val="accent1"/>
                </a:solidFill>
              </a:rPr>
              <a:t>汇报答辩通用模板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33" name="文本占位符 1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4216" y="4766751"/>
            <a:ext cx="4102965" cy="369332"/>
          </a:xfr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 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6794878" y="-1"/>
            <a:ext cx="5397122" cy="6852205"/>
          </a:xfrm>
          <a:prstGeom prst="parallelogram">
            <a:avLst>
              <a:gd name="adj" fmla="val 35760"/>
            </a:avLst>
          </a:prstGeom>
          <a:ln w="38100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98"/>
          <p:cNvGrpSpPr>
            <a:grpSpLocks noChangeAspect="1"/>
          </p:cNvGrpSpPr>
          <p:nvPr userDrawn="1"/>
        </p:nvGrpSpPr>
        <p:grpSpPr bwMode="auto">
          <a:xfrm>
            <a:off x="231775" y="766915"/>
            <a:ext cx="7453313" cy="5545241"/>
            <a:chOff x="146" y="64"/>
            <a:chExt cx="4695" cy="4072"/>
          </a:xfrm>
          <a:solidFill>
            <a:schemeClr val="accent1"/>
          </a:solidFill>
        </p:grpSpPr>
        <p:sp>
          <p:nvSpPr>
            <p:cNvPr id="51" name="Freeform 228"/>
            <p:cNvSpPr>
              <a:spLocks noEditPoints="1"/>
            </p:cNvSpPr>
            <p:nvPr/>
          </p:nvSpPr>
          <p:spPr bwMode="auto">
            <a:xfrm>
              <a:off x="305" y="273"/>
              <a:ext cx="4536" cy="3863"/>
            </a:xfrm>
            <a:custGeom>
              <a:avLst/>
              <a:gdLst>
                <a:gd name="T0" fmla="*/ 3006 w 3372"/>
                <a:gd name="T1" fmla="*/ 2410 h 2414"/>
                <a:gd name="T2" fmla="*/ 3181 w 3372"/>
                <a:gd name="T3" fmla="*/ 2380 h 2414"/>
                <a:gd name="T4" fmla="*/ 3331 w 3372"/>
                <a:gd name="T5" fmla="*/ 2281 h 2414"/>
                <a:gd name="T6" fmla="*/ 3367 w 3372"/>
                <a:gd name="T7" fmla="*/ 2113 h 2414"/>
                <a:gd name="T8" fmla="*/ 3289 w 3372"/>
                <a:gd name="T9" fmla="*/ 1979 h 2414"/>
                <a:gd name="T10" fmla="*/ 3157 w 3372"/>
                <a:gd name="T11" fmla="*/ 1887 h 2414"/>
                <a:gd name="T12" fmla="*/ 3016 w 3372"/>
                <a:gd name="T13" fmla="*/ 1831 h 2414"/>
                <a:gd name="T14" fmla="*/ 2864 w 3372"/>
                <a:gd name="T15" fmla="*/ 1818 h 2414"/>
                <a:gd name="T16" fmla="*/ 2632 w 3372"/>
                <a:gd name="T17" fmla="*/ 1804 h 2414"/>
                <a:gd name="T18" fmla="*/ 2472 w 3372"/>
                <a:gd name="T19" fmla="*/ 1779 h 2414"/>
                <a:gd name="T20" fmla="*/ 2391 w 3372"/>
                <a:gd name="T21" fmla="*/ 1757 h 2414"/>
                <a:gd name="T22" fmla="*/ 2162 w 3372"/>
                <a:gd name="T23" fmla="*/ 1706 h 2414"/>
                <a:gd name="T24" fmla="*/ 2043 w 3372"/>
                <a:gd name="T25" fmla="*/ 1684 h 2414"/>
                <a:gd name="T26" fmla="*/ 1784 w 3372"/>
                <a:gd name="T27" fmla="*/ 1582 h 2414"/>
                <a:gd name="T28" fmla="*/ 1590 w 3372"/>
                <a:gd name="T29" fmla="*/ 1481 h 2414"/>
                <a:gd name="T30" fmla="*/ 1493 w 3372"/>
                <a:gd name="T31" fmla="*/ 1404 h 2414"/>
                <a:gd name="T32" fmla="*/ 1357 w 3372"/>
                <a:gd name="T33" fmla="*/ 1284 h 2414"/>
                <a:gd name="T34" fmla="*/ 1010 w 3372"/>
                <a:gd name="T35" fmla="*/ 910 h 2414"/>
                <a:gd name="T36" fmla="*/ 756 w 3372"/>
                <a:gd name="T37" fmla="*/ 606 h 2414"/>
                <a:gd name="T38" fmla="*/ 659 w 3372"/>
                <a:gd name="T39" fmla="*/ 506 h 2414"/>
                <a:gd name="T40" fmla="*/ 547 w 3372"/>
                <a:gd name="T41" fmla="*/ 406 h 2414"/>
                <a:gd name="T42" fmla="*/ 464 w 3372"/>
                <a:gd name="T43" fmla="*/ 308 h 2414"/>
                <a:gd name="T44" fmla="*/ 396 w 3372"/>
                <a:gd name="T45" fmla="*/ 239 h 2414"/>
                <a:gd name="T46" fmla="*/ 354 w 3372"/>
                <a:gd name="T47" fmla="*/ 213 h 2414"/>
                <a:gd name="T48" fmla="*/ 302 w 3372"/>
                <a:gd name="T49" fmla="*/ 141 h 2414"/>
                <a:gd name="T50" fmla="*/ 314 w 3372"/>
                <a:gd name="T51" fmla="*/ 168 h 2414"/>
                <a:gd name="T52" fmla="*/ 355 w 3372"/>
                <a:gd name="T53" fmla="*/ 248 h 2414"/>
                <a:gd name="T54" fmla="*/ 273 w 3372"/>
                <a:gd name="T55" fmla="*/ 162 h 2414"/>
                <a:gd name="T56" fmla="*/ 339 w 3372"/>
                <a:gd name="T57" fmla="*/ 282 h 2414"/>
                <a:gd name="T58" fmla="*/ 372 w 3372"/>
                <a:gd name="T59" fmla="*/ 355 h 2414"/>
                <a:gd name="T60" fmla="*/ 329 w 3372"/>
                <a:gd name="T61" fmla="*/ 329 h 2414"/>
                <a:gd name="T62" fmla="*/ 266 w 3372"/>
                <a:gd name="T63" fmla="*/ 245 h 2414"/>
                <a:gd name="T64" fmla="*/ 358 w 3372"/>
                <a:gd name="T65" fmla="*/ 466 h 2414"/>
                <a:gd name="T66" fmla="*/ 229 w 3372"/>
                <a:gd name="T67" fmla="*/ 321 h 2414"/>
                <a:gd name="T68" fmla="*/ 156 w 3372"/>
                <a:gd name="T69" fmla="*/ 292 h 2414"/>
                <a:gd name="T70" fmla="*/ 78 w 3372"/>
                <a:gd name="T71" fmla="*/ 167 h 2414"/>
                <a:gd name="T72" fmla="*/ 171 w 3372"/>
                <a:gd name="T73" fmla="*/ 412 h 2414"/>
                <a:gd name="T74" fmla="*/ 212 w 3372"/>
                <a:gd name="T75" fmla="*/ 477 h 2414"/>
                <a:gd name="T76" fmla="*/ 293 w 3372"/>
                <a:gd name="T77" fmla="*/ 616 h 2414"/>
                <a:gd name="T78" fmla="*/ 392 w 3372"/>
                <a:gd name="T79" fmla="*/ 768 h 2414"/>
                <a:gd name="T80" fmla="*/ 502 w 3372"/>
                <a:gd name="T81" fmla="*/ 941 h 2414"/>
                <a:gd name="T82" fmla="*/ 904 w 3372"/>
                <a:gd name="T83" fmla="*/ 1414 h 2414"/>
                <a:gd name="T84" fmla="*/ 1074 w 3372"/>
                <a:gd name="T85" fmla="*/ 1601 h 2414"/>
                <a:gd name="T86" fmla="*/ 1210 w 3372"/>
                <a:gd name="T87" fmla="*/ 1727 h 2414"/>
                <a:gd name="T88" fmla="*/ 1372 w 3372"/>
                <a:gd name="T89" fmla="*/ 1844 h 2414"/>
                <a:gd name="T90" fmla="*/ 1740 w 3372"/>
                <a:gd name="T91" fmla="*/ 2044 h 2414"/>
                <a:gd name="T92" fmla="*/ 1977 w 3372"/>
                <a:gd name="T93" fmla="*/ 2132 h 2414"/>
                <a:gd name="T94" fmla="*/ 2196 w 3372"/>
                <a:gd name="T95" fmla="*/ 2190 h 2414"/>
                <a:gd name="T96" fmla="*/ 2544 w 3372"/>
                <a:gd name="T97" fmla="*/ 2285 h 2414"/>
                <a:gd name="T98" fmla="*/ 2779 w 3372"/>
                <a:gd name="T99" fmla="*/ 2371 h 2414"/>
                <a:gd name="T100" fmla="*/ 412 w 3372"/>
                <a:gd name="T101" fmla="*/ 297 h 2414"/>
                <a:gd name="T102" fmla="*/ 370 w 3372"/>
                <a:gd name="T103" fmla="*/ 262 h 2414"/>
                <a:gd name="T104" fmla="*/ 416 w 3372"/>
                <a:gd name="T105" fmla="*/ 290 h 2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72" h="2414">
                  <a:moveTo>
                    <a:pt x="2856" y="2402"/>
                  </a:moveTo>
                  <a:cubicBezTo>
                    <a:pt x="2865" y="2403"/>
                    <a:pt x="2875" y="2400"/>
                    <a:pt x="2884" y="2401"/>
                  </a:cubicBezTo>
                  <a:cubicBezTo>
                    <a:pt x="2906" y="2404"/>
                    <a:pt x="2924" y="2413"/>
                    <a:pt x="2947" y="2413"/>
                  </a:cubicBezTo>
                  <a:cubicBezTo>
                    <a:pt x="2966" y="2414"/>
                    <a:pt x="2985" y="2409"/>
                    <a:pt x="3006" y="2410"/>
                  </a:cubicBezTo>
                  <a:cubicBezTo>
                    <a:pt x="3021" y="2410"/>
                    <a:pt x="3026" y="2409"/>
                    <a:pt x="3036" y="2408"/>
                  </a:cubicBezTo>
                  <a:cubicBezTo>
                    <a:pt x="3066" y="2407"/>
                    <a:pt x="3090" y="2412"/>
                    <a:pt x="3104" y="2399"/>
                  </a:cubicBezTo>
                  <a:cubicBezTo>
                    <a:pt x="3126" y="2391"/>
                    <a:pt x="3152" y="2388"/>
                    <a:pt x="3171" y="2381"/>
                  </a:cubicBezTo>
                  <a:cubicBezTo>
                    <a:pt x="3174" y="2379"/>
                    <a:pt x="3180" y="2381"/>
                    <a:pt x="3181" y="2380"/>
                  </a:cubicBezTo>
                  <a:cubicBezTo>
                    <a:pt x="3205" y="2371"/>
                    <a:pt x="3225" y="2357"/>
                    <a:pt x="3245" y="2344"/>
                  </a:cubicBezTo>
                  <a:cubicBezTo>
                    <a:pt x="3255" y="2338"/>
                    <a:pt x="3265" y="2331"/>
                    <a:pt x="3277" y="2326"/>
                  </a:cubicBezTo>
                  <a:cubicBezTo>
                    <a:pt x="3288" y="2320"/>
                    <a:pt x="3300" y="2315"/>
                    <a:pt x="3313" y="2312"/>
                  </a:cubicBezTo>
                  <a:cubicBezTo>
                    <a:pt x="3318" y="2303"/>
                    <a:pt x="3322" y="2291"/>
                    <a:pt x="3331" y="2281"/>
                  </a:cubicBezTo>
                  <a:cubicBezTo>
                    <a:pt x="3335" y="2276"/>
                    <a:pt x="3345" y="2274"/>
                    <a:pt x="3348" y="2269"/>
                  </a:cubicBezTo>
                  <a:cubicBezTo>
                    <a:pt x="3359" y="2252"/>
                    <a:pt x="3350" y="2228"/>
                    <a:pt x="3370" y="2216"/>
                  </a:cubicBezTo>
                  <a:cubicBezTo>
                    <a:pt x="3372" y="2211"/>
                    <a:pt x="3368" y="2210"/>
                    <a:pt x="3367" y="2207"/>
                  </a:cubicBezTo>
                  <a:cubicBezTo>
                    <a:pt x="3369" y="2171"/>
                    <a:pt x="3362" y="2141"/>
                    <a:pt x="3367" y="2113"/>
                  </a:cubicBezTo>
                  <a:cubicBezTo>
                    <a:pt x="3355" y="2096"/>
                    <a:pt x="3359" y="2077"/>
                    <a:pt x="3349" y="2061"/>
                  </a:cubicBezTo>
                  <a:cubicBezTo>
                    <a:pt x="3343" y="2051"/>
                    <a:pt x="3332" y="2042"/>
                    <a:pt x="3325" y="2032"/>
                  </a:cubicBezTo>
                  <a:cubicBezTo>
                    <a:pt x="3316" y="2021"/>
                    <a:pt x="3307" y="2013"/>
                    <a:pt x="3301" y="2002"/>
                  </a:cubicBezTo>
                  <a:cubicBezTo>
                    <a:pt x="3301" y="1991"/>
                    <a:pt x="3290" y="1988"/>
                    <a:pt x="3289" y="1979"/>
                  </a:cubicBezTo>
                  <a:cubicBezTo>
                    <a:pt x="3282" y="1976"/>
                    <a:pt x="3276" y="1971"/>
                    <a:pt x="3271" y="1967"/>
                  </a:cubicBezTo>
                  <a:cubicBezTo>
                    <a:pt x="3265" y="1963"/>
                    <a:pt x="3259" y="1958"/>
                    <a:pt x="3253" y="1955"/>
                  </a:cubicBezTo>
                  <a:cubicBezTo>
                    <a:pt x="3252" y="1951"/>
                    <a:pt x="3249" y="1948"/>
                    <a:pt x="3249" y="1944"/>
                  </a:cubicBezTo>
                  <a:cubicBezTo>
                    <a:pt x="3221" y="1923"/>
                    <a:pt x="3195" y="1898"/>
                    <a:pt x="3157" y="1887"/>
                  </a:cubicBezTo>
                  <a:cubicBezTo>
                    <a:pt x="3153" y="1886"/>
                    <a:pt x="3146" y="1884"/>
                    <a:pt x="3142" y="1884"/>
                  </a:cubicBezTo>
                  <a:cubicBezTo>
                    <a:pt x="3113" y="1881"/>
                    <a:pt x="3069" y="1871"/>
                    <a:pt x="3056" y="1855"/>
                  </a:cubicBezTo>
                  <a:cubicBezTo>
                    <a:pt x="3051" y="1853"/>
                    <a:pt x="3050" y="1856"/>
                    <a:pt x="3045" y="1854"/>
                  </a:cubicBezTo>
                  <a:cubicBezTo>
                    <a:pt x="3043" y="1847"/>
                    <a:pt x="3029" y="1832"/>
                    <a:pt x="3016" y="1831"/>
                  </a:cubicBezTo>
                  <a:cubicBezTo>
                    <a:pt x="3011" y="1830"/>
                    <a:pt x="3002" y="1838"/>
                    <a:pt x="2992" y="1838"/>
                  </a:cubicBezTo>
                  <a:cubicBezTo>
                    <a:pt x="2976" y="1838"/>
                    <a:pt x="2964" y="1823"/>
                    <a:pt x="2950" y="1823"/>
                  </a:cubicBezTo>
                  <a:cubicBezTo>
                    <a:pt x="2944" y="1823"/>
                    <a:pt x="2936" y="1830"/>
                    <a:pt x="2929" y="1831"/>
                  </a:cubicBezTo>
                  <a:cubicBezTo>
                    <a:pt x="2911" y="1833"/>
                    <a:pt x="2877" y="1823"/>
                    <a:pt x="2864" y="1818"/>
                  </a:cubicBezTo>
                  <a:cubicBezTo>
                    <a:pt x="2853" y="1813"/>
                    <a:pt x="2850" y="1806"/>
                    <a:pt x="2841" y="1805"/>
                  </a:cubicBezTo>
                  <a:cubicBezTo>
                    <a:pt x="2833" y="1805"/>
                    <a:pt x="2826" y="1812"/>
                    <a:pt x="2825" y="1823"/>
                  </a:cubicBezTo>
                  <a:cubicBezTo>
                    <a:pt x="2798" y="1842"/>
                    <a:pt x="2744" y="1812"/>
                    <a:pt x="2707" y="1816"/>
                  </a:cubicBezTo>
                  <a:cubicBezTo>
                    <a:pt x="2683" y="1802"/>
                    <a:pt x="2656" y="1811"/>
                    <a:pt x="2632" y="1804"/>
                  </a:cubicBezTo>
                  <a:cubicBezTo>
                    <a:pt x="2627" y="1802"/>
                    <a:pt x="2622" y="1798"/>
                    <a:pt x="2617" y="1797"/>
                  </a:cubicBezTo>
                  <a:cubicBezTo>
                    <a:pt x="2608" y="1795"/>
                    <a:pt x="2596" y="1797"/>
                    <a:pt x="2585" y="1797"/>
                  </a:cubicBezTo>
                  <a:cubicBezTo>
                    <a:pt x="2566" y="1796"/>
                    <a:pt x="2549" y="1791"/>
                    <a:pt x="2533" y="1792"/>
                  </a:cubicBezTo>
                  <a:cubicBezTo>
                    <a:pt x="2513" y="1772"/>
                    <a:pt x="2492" y="1784"/>
                    <a:pt x="2472" y="1779"/>
                  </a:cubicBezTo>
                  <a:cubicBezTo>
                    <a:pt x="2465" y="1777"/>
                    <a:pt x="2458" y="1771"/>
                    <a:pt x="2450" y="1769"/>
                  </a:cubicBezTo>
                  <a:cubicBezTo>
                    <a:pt x="2443" y="1768"/>
                    <a:pt x="2435" y="1770"/>
                    <a:pt x="2428" y="1768"/>
                  </a:cubicBezTo>
                  <a:cubicBezTo>
                    <a:pt x="2420" y="1766"/>
                    <a:pt x="2413" y="1760"/>
                    <a:pt x="2406" y="1758"/>
                  </a:cubicBezTo>
                  <a:cubicBezTo>
                    <a:pt x="2400" y="1757"/>
                    <a:pt x="2396" y="1759"/>
                    <a:pt x="2391" y="1757"/>
                  </a:cubicBezTo>
                  <a:cubicBezTo>
                    <a:pt x="2385" y="1755"/>
                    <a:pt x="2382" y="1751"/>
                    <a:pt x="2376" y="1750"/>
                  </a:cubicBezTo>
                  <a:cubicBezTo>
                    <a:pt x="2369" y="1749"/>
                    <a:pt x="2362" y="1753"/>
                    <a:pt x="2355" y="1752"/>
                  </a:cubicBezTo>
                  <a:cubicBezTo>
                    <a:pt x="2331" y="1749"/>
                    <a:pt x="2306" y="1737"/>
                    <a:pt x="2282" y="1742"/>
                  </a:cubicBezTo>
                  <a:cubicBezTo>
                    <a:pt x="2244" y="1723"/>
                    <a:pt x="2206" y="1728"/>
                    <a:pt x="2162" y="1706"/>
                  </a:cubicBezTo>
                  <a:cubicBezTo>
                    <a:pt x="2150" y="1705"/>
                    <a:pt x="2141" y="1705"/>
                    <a:pt x="2129" y="1699"/>
                  </a:cubicBezTo>
                  <a:cubicBezTo>
                    <a:pt x="2127" y="1699"/>
                    <a:pt x="2126" y="1702"/>
                    <a:pt x="2122" y="1701"/>
                  </a:cubicBezTo>
                  <a:cubicBezTo>
                    <a:pt x="2099" y="1690"/>
                    <a:pt x="2071" y="1694"/>
                    <a:pt x="2048" y="1681"/>
                  </a:cubicBezTo>
                  <a:cubicBezTo>
                    <a:pt x="2047" y="1682"/>
                    <a:pt x="2045" y="1683"/>
                    <a:pt x="2043" y="1684"/>
                  </a:cubicBezTo>
                  <a:cubicBezTo>
                    <a:pt x="2012" y="1667"/>
                    <a:pt x="1972" y="1652"/>
                    <a:pt x="1944" y="1650"/>
                  </a:cubicBezTo>
                  <a:cubicBezTo>
                    <a:pt x="1927" y="1636"/>
                    <a:pt x="1902" y="1635"/>
                    <a:pt x="1878" y="1626"/>
                  </a:cubicBezTo>
                  <a:cubicBezTo>
                    <a:pt x="1867" y="1621"/>
                    <a:pt x="1858" y="1613"/>
                    <a:pt x="1847" y="1610"/>
                  </a:cubicBezTo>
                  <a:cubicBezTo>
                    <a:pt x="1826" y="1604"/>
                    <a:pt x="1803" y="1589"/>
                    <a:pt x="1784" y="1582"/>
                  </a:cubicBezTo>
                  <a:cubicBezTo>
                    <a:pt x="1778" y="1580"/>
                    <a:pt x="1771" y="1580"/>
                    <a:pt x="1765" y="1578"/>
                  </a:cubicBezTo>
                  <a:cubicBezTo>
                    <a:pt x="1755" y="1575"/>
                    <a:pt x="1747" y="1566"/>
                    <a:pt x="1736" y="1562"/>
                  </a:cubicBezTo>
                  <a:cubicBezTo>
                    <a:pt x="1694" y="1549"/>
                    <a:pt x="1654" y="1518"/>
                    <a:pt x="1622" y="1496"/>
                  </a:cubicBezTo>
                  <a:cubicBezTo>
                    <a:pt x="1612" y="1489"/>
                    <a:pt x="1601" y="1487"/>
                    <a:pt x="1590" y="1481"/>
                  </a:cubicBezTo>
                  <a:cubicBezTo>
                    <a:pt x="1570" y="1470"/>
                    <a:pt x="1557" y="1450"/>
                    <a:pt x="1538" y="1438"/>
                  </a:cubicBezTo>
                  <a:cubicBezTo>
                    <a:pt x="1534" y="1435"/>
                    <a:pt x="1527" y="1433"/>
                    <a:pt x="1523" y="1431"/>
                  </a:cubicBezTo>
                  <a:cubicBezTo>
                    <a:pt x="1517" y="1427"/>
                    <a:pt x="1513" y="1422"/>
                    <a:pt x="1508" y="1418"/>
                  </a:cubicBezTo>
                  <a:cubicBezTo>
                    <a:pt x="1503" y="1413"/>
                    <a:pt x="1499" y="1408"/>
                    <a:pt x="1493" y="1404"/>
                  </a:cubicBezTo>
                  <a:cubicBezTo>
                    <a:pt x="1487" y="1398"/>
                    <a:pt x="1480" y="1393"/>
                    <a:pt x="1473" y="1388"/>
                  </a:cubicBezTo>
                  <a:cubicBezTo>
                    <a:pt x="1466" y="1382"/>
                    <a:pt x="1459" y="1377"/>
                    <a:pt x="1452" y="1372"/>
                  </a:cubicBezTo>
                  <a:cubicBezTo>
                    <a:pt x="1439" y="1361"/>
                    <a:pt x="1426" y="1348"/>
                    <a:pt x="1416" y="1334"/>
                  </a:cubicBezTo>
                  <a:cubicBezTo>
                    <a:pt x="1397" y="1322"/>
                    <a:pt x="1377" y="1304"/>
                    <a:pt x="1357" y="1284"/>
                  </a:cubicBezTo>
                  <a:cubicBezTo>
                    <a:pt x="1338" y="1264"/>
                    <a:pt x="1318" y="1242"/>
                    <a:pt x="1300" y="1222"/>
                  </a:cubicBezTo>
                  <a:cubicBezTo>
                    <a:pt x="1286" y="1219"/>
                    <a:pt x="1283" y="1206"/>
                    <a:pt x="1275" y="1197"/>
                  </a:cubicBezTo>
                  <a:cubicBezTo>
                    <a:pt x="1247" y="1171"/>
                    <a:pt x="1208" y="1139"/>
                    <a:pt x="1186" y="1103"/>
                  </a:cubicBezTo>
                  <a:cubicBezTo>
                    <a:pt x="1125" y="1043"/>
                    <a:pt x="1067" y="977"/>
                    <a:pt x="1010" y="910"/>
                  </a:cubicBezTo>
                  <a:cubicBezTo>
                    <a:pt x="954" y="844"/>
                    <a:pt x="898" y="777"/>
                    <a:pt x="840" y="714"/>
                  </a:cubicBezTo>
                  <a:cubicBezTo>
                    <a:pt x="836" y="700"/>
                    <a:pt x="821" y="686"/>
                    <a:pt x="810" y="679"/>
                  </a:cubicBezTo>
                  <a:cubicBezTo>
                    <a:pt x="812" y="675"/>
                    <a:pt x="807" y="669"/>
                    <a:pt x="804" y="663"/>
                  </a:cubicBezTo>
                  <a:cubicBezTo>
                    <a:pt x="784" y="652"/>
                    <a:pt x="774" y="626"/>
                    <a:pt x="756" y="606"/>
                  </a:cubicBezTo>
                  <a:cubicBezTo>
                    <a:pt x="744" y="606"/>
                    <a:pt x="740" y="589"/>
                    <a:pt x="728" y="585"/>
                  </a:cubicBezTo>
                  <a:cubicBezTo>
                    <a:pt x="730" y="578"/>
                    <a:pt x="735" y="587"/>
                    <a:pt x="733" y="579"/>
                  </a:cubicBezTo>
                  <a:cubicBezTo>
                    <a:pt x="709" y="575"/>
                    <a:pt x="681" y="523"/>
                    <a:pt x="661" y="505"/>
                  </a:cubicBezTo>
                  <a:cubicBezTo>
                    <a:pt x="662" y="506"/>
                    <a:pt x="661" y="508"/>
                    <a:pt x="659" y="506"/>
                  </a:cubicBezTo>
                  <a:cubicBezTo>
                    <a:pt x="659" y="499"/>
                    <a:pt x="650" y="501"/>
                    <a:pt x="646" y="495"/>
                  </a:cubicBezTo>
                  <a:cubicBezTo>
                    <a:pt x="616" y="457"/>
                    <a:pt x="583" y="439"/>
                    <a:pt x="555" y="409"/>
                  </a:cubicBezTo>
                  <a:cubicBezTo>
                    <a:pt x="554" y="404"/>
                    <a:pt x="552" y="389"/>
                    <a:pt x="544" y="388"/>
                  </a:cubicBezTo>
                  <a:cubicBezTo>
                    <a:pt x="548" y="395"/>
                    <a:pt x="553" y="402"/>
                    <a:pt x="547" y="406"/>
                  </a:cubicBezTo>
                  <a:cubicBezTo>
                    <a:pt x="542" y="394"/>
                    <a:pt x="531" y="383"/>
                    <a:pt x="521" y="379"/>
                  </a:cubicBezTo>
                  <a:cubicBezTo>
                    <a:pt x="512" y="367"/>
                    <a:pt x="511" y="359"/>
                    <a:pt x="499" y="350"/>
                  </a:cubicBezTo>
                  <a:cubicBezTo>
                    <a:pt x="498" y="348"/>
                    <a:pt x="495" y="357"/>
                    <a:pt x="491" y="351"/>
                  </a:cubicBezTo>
                  <a:cubicBezTo>
                    <a:pt x="483" y="331"/>
                    <a:pt x="472" y="326"/>
                    <a:pt x="464" y="308"/>
                  </a:cubicBezTo>
                  <a:cubicBezTo>
                    <a:pt x="456" y="307"/>
                    <a:pt x="442" y="290"/>
                    <a:pt x="442" y="282"/>
                  </a:cubicBezTo>
                  <a:cubicBezTo>
                    <a:pt x="436" y="278"/>
                    <a:pt x="441" y="291"/>
                    <a:pt x="436" y="287"/>
                  </a:cubicBezTo>
                  <a:cubicBezTo>
                    <a:pt x="425" y="274"/>
                    <a:pt x="415" y="262"/>
                    <a:pt x="410" y="246"/>
                  </a:cubicBezTo>
                  <a:cubicBezTo>
                    <a:pt x="406" y="244"/>
                    <a:pt x="401" y="244"/>
                    <a:pt x="396" y="239"/>
                  </a:cubicBezTo>
                  <a:cubicBezTo>
                    <a:pt x="394" y="236"/>
                    <a:pt x="403" y="237"/>
                    <a:pt x="398" y="232"/>
                  </a:cubicBezTo>
                  <a:cubicBezTo>
                    <a:pt x="391" y="229"/>
                    <a:pt x="394" y="240"/>
                    <a:pt x="389" y="241"/>
                  </a:cubicBezTo>
                  <a:cubicBezTo>
                    <a:pt x="383" y="235"/>
                    <a:pt x="381" y="238"/>
                    <a:pt x="375" y="237"/>
                  </a:cubicBezTo>
                  <a:cubicBezTo>
                    <a:pt x="372" y="224"/>
                    <a:pt x="361" y="221"/>
                    <a:pt x="354" y="213"/>
                  </a:cubicBezTo>
                  <a:cubicBezTo>
                    <a:pt x="346" y="205"/>
                    <a:pt x="342" y="193"/>
                    <a:pt x="334" y="184"/>
                  </a:cubicBezTo>
                  <a:cubicBezTo>
                    <a:pt x="328" y="177"/>
                    <a:pt x="322" y="176"/>
                    <a:pt x="317" y="167"/>
                  </a:cubicBezTo>
                  <a:cubicBezTo>
                    <a:pt x="313" y="159"/>
                    <a:pt x="314" y="150"/>
                    <a:pt x="309" y="142"/>
                  </a:cubicBezTo>
                  <a:cubicBezTo>
                    <a:pt x="306" y="138"/>
                    <a:pt x="306" y="148"/>
                    <a:pt x="302" y="141"/>
                  </a:cubicBezTo>
                  <a:cubicBezTo>
                    <a:pt x="285" y="113"/>
                    <a:pt x="268" y="84"/>
                    <a:pt x="250" y="65"/>
                  </a:cubicBezTo>
                  <a:cubicBezTo>
                    <a:pt x="276" y="95"/>
                    <a:pt x="278" y="125"/>
                    <a:pt x="303" y="149"/>
                  </a:cubicBezTo>
                  <a:cubicBezTo>
                    <a:pt x="300" y="157"/>
                    <a:pt x="314" y="160"/>
                    <a:pt x="308" y="169"/>
                  </a:cubicBezTo>
                  <a:cubicBezTo>
                    <a:pt x="313" y="169"/>
                    <a:pt x="311" y="161"/>
                    <a:pt x="314" y="168"/>
                  </a:cubicBezTo>
                  <a:cubicBezTo>
                    <a:pt x="315" y="170"/>
                    <a:pt x="314" y="172"/>
                    <a:pt x="317" y="175"/>
                  </a:cubicBezTo>
                  <a:cubicBezTo>
                    <a:pt x="308" y="175"/>
                    <a:pt x="311" y="181"/>
                    <a:pt x="308" y="186"/>
                  </a:cubicBezTo>
                  <a:cubicBezTo>
                    <a:pt x="322" y="210"/>
                    <a:pt x="336" y="228"/>
                    <a:pt x="349" y="249"/>
                  </a:cubicBezTo>
                  <a:cubicBezTo>
                    <a:pt x="353" y="252"/>
                    <a:pt x="351" y="244"/>
                    <a:pt x="355" y="248"/>
                  </a:cubicBezTo>
                  <a:cubicBezTo>
                    <a:pt x="361" y="255"/>
                    <a:pt x="363" y="262"/>
                    <a:pt x="371" y="270"/>
                  </a:cubicBezTo>
                  <a:cubicBezTo>
                    <a:pt x="368" y="276"/>
                    <a:pt x="369" y="284"/>
                    <a:pt x="361" y="284"/>
                  </a:cubicBezTo>
                  <a:cubicBezTo>
                    <a:pt x="344" y="256"/>
                    <a:pt x="311" y="222"/>
                    <a:pt x="291" y="188"/>
                  </a:cubicBezTo>
                  <a:cubicBezTo>
                    <a:pt x="285" y="178"/>
                    <a:pt x="284" y="164"/>
                    <a:pt x="273" y="162"/>
                  </a:cubicBezTo>
                  <a:cubicBezTo>
                    <a:pt x="284" y="177"/>
                    <a:pt x="282" y="194"/>
                    <a:pt x="289" y="208"/>
                  </a:cubicBezTo>
                  <a:cubicBezTo>
                    <a:pt x="297" y="226"/>
                    <a:pt x="316" y="240"/>
                    <a:pt x="324" y="258"/>
                  </a:cubicBezTo>
                  <a:cubicBezTo>
                    <a:pt x="327" y="263"/>
                    <a:pt x="326" y="267"/>
                    <a:pt x="328" y="271"/>
                  </a:cubicBezTo>
                  <a:cubicBezTo>
                    <a:pt x="330" y="274"/>
                    <a:pt x="337" y="278"/>
                    <a:pt x="339" y="282"/>
                  </a:cubicBezTo>
                  <a:cubicBezTo>
                    <a:pt x="342" y="286"/>
                    <a:pt x="339" y="288"/>
                    <a:pt x="342" y="291"/>
                  </a:cubicBezTo>
                  <a:cubicBezTo>
                    <a:pt x="347" y="298"/>
                    <a:pt x="354" y="301"/>
                    <a:pt x="359" y="309"/>
                  </a:cubicBezTo>
                  <a:cubicBezTo>
                    <a:pt x="367" y="322"/>
                    <a:pt x="370" y="338"/>
                    <a:pt x="381" y="352"/>
                  </a:cubicBezTo>
                  <a:cubicBezTo>
                    <a:pt x="381" y="356"/>
                    <a:pt x="375" y="358"/>
                    <a:pt x="372" y="355"/>
                  </a:cubicBezTo>
                  <a:cubicBezTo>
                    <a:pt x="361" y="338"/>
                    <a:pt x="359" y="335"/>
                    <a:pt x="347" y="318"/>
                  </a:cubicBezTo>
                  <a:cubicBezTo>
                    <a:pt x="348" y="320"/>
                    <a:pt x="348" y="322"/>
                    <a:pt x="345" y="323"/>
                  </a:cubicBezTo>
                  <a:cubicBezTo>
                    <a:pt x="342" y="317"/>
                    <a:pt x="343" y="315"/>
                    <a:pt x="338" y="313"/>
                  </a:cubicBezTo>
                  <a:cubicBezTo>
                    <a:pt x="346" y="326"/>
                    <a:pt x="336" y="330"/>
                    <a:pt x="329" y="329"/>
                  </a:cubicBezTo>
                  <a:cubicBezTo>
                    <a:pt x="310" y="295"/>
                    <a:pt x="281" y="257"/>
                    <a:pt x="269" y="227"/>
                  </a:cubicBezTo>
                  <a:cubicBezTo>
                    <a:pt x="265" y="225"/>
                    <a:pt x="260" y="225"/>
                    <a:pt x="256" y="221"/>
                  </a:cubicBezTo>
                  <a:cubicBezTo>
                    <a:pt x="235" y="191"/>
                    <a:pt x="219" y="154"/>
                    <a:pt x="199" y="121"/>
                  </a:cubicBezTo>
                  <a:cubicBezTo>
                    <a:pt x="211" y="164"/>
                    <a:pt x="238" y="203"/>
                    <a:pt x="266" y="245"/>
                  </a:cubicBezTo>
                  <a:cubicBezTo>
                    <a:pt x="266" y="248"/>
                    <a:pt x="262" y="248"/>
                    <a:pt x="265" y="252"/>
                  </a:cubicBezTo>
                  <a:cubicBezTo>
                    <a:pt x="279" y="269"/>
                    <a:pt x="291" y="291"/>
                    <a:pt x="301" y="305"/>
                  </a:cubicBezTo>
                  <a:cubicBezTo>
                    <a:pt x="300" y="315"/>
                    <a:pt x="298" y="324"/>
                    <a:pt x="297" y="334"/>
                  </a:cubicBezTo>
                  <a:cubicBezTo>
                    <a:pt x="329" y="377"/>
                    <a:pt x="329" y="423"/>
                    <a:pt x="358" y="466"/>
                  </a:cubicBezTo>
                  <a:cubicBezTo>
                    <a:pt x="354" y="469"/>
                    <a:pt x="356" y="473"/>
                    <a:pt x="354" y="476"/>
                  </a:cubicBezTo>
                  <a:cubicBezTo>
                    <a:pt x="349" y="474"/>
                    <a:pt x="343" y="475"/>
                    <a:pt x="338" y="472"/>
                  </a:cubicBezTo>
                  <a:cubicBezTo>
                    <a:pt x="333" y="465"/>
                    <a:pt x="326" y="459"/>
                    <a:pt x="325" y="451"/>
                  </a:cubicBezTo>
                  <a:cubicBezTo>
                    <a:pt x="290" y="422"/>
                    <a:pt x="264" y="365"/>
                    <a:pt x="229" y="321"/>
                  </a:cubicBezTo>
                  <a:cubicBezTo>
                    <a:pt x="220" y="319"/>
                    <a:pt x="218" y="326"/>
                    <a:pt x="215" y="334"/>
                  </a:cubicBezTo>
                  <a:cubicBezTo>
                    <a:pt x="225" y="359"/>
                    <a:pt x="246" y="374"/>
                    <a:pt x="254" y="403"/>
                  </a:cubicBezTo>
                  <a:cubicBezTo>
                    <a:pt x="245" y="420"/>
                    <a:pt x="229" y="418"/>
                    <a:pt x="217" y="399"/>
                  </a:cubicBezTo>
                  <a:cubicBezTo>
                    <a:pt x="196" y="370"/>
                    <a:pt x="165" y="314"/>
                    <a:pt x="156" y="292"/>
                  </a:cubicBezTo>
                  <a:cubicBezTo>
                    <a:pt x="125" y="248"/>
                    <a:pt x="98" y="201"/>
                    <a:pt x="73" y="152"/>
                  </a:cubicBezTo>
                  <a:cubicBezTo>
                    <a:pt x="48" y="103"/>
                    <a:pt x="25" y="52"/>
                    <a:pt x="0" y="0"/>
                  </a:cubicBezTo>
                  <a:cubicBezTo>
                    <a:pt x="20" y="61"/>
                    <a:pt x="52" y="110"/>
                    <a:pt x="71" y="163"/>
                  </a:cubicBezTo>
                  <a:cubicBezTo>
                    <a:pt x="74" y="162"/>
                    <a:pt x="76" y="163"/>
                    <a:pt x="78" y="167"/>
                  </a:cubicBezTo>
                  <a:cubicBezTo>
                    <a:pt x="100" y="217"/>
                    <a:pt x="129" y="270"/>
                    <a:pt x="158" y="309"/>
                  </a:cubicBezTo>
                  <a:cubicBezTo>
                    <a:pt x="159" y="331"/>
                    <a:pt x="189" y="358"/>
                    <a:pt x="190" y="381"/>
                  </a:cubicBezTo>
                  <a:cubicBezTo>
                    <a:pt x="174" y="385"/>
                    <a:pt x="159" y="375"/>
                    <a:pt x="145" y="359"/>
                  </a:cubicBezTo>
                  <a:cubicBezTo>
                    <a:pt x="156" y="377"/>
                    <a:pt x="162" y="396"/>
                    <a:pt x="171" y="412"/>
                  </a:cubicBezTo>
                  <a:cubicBezTo>
                    <a:pt x="178" y="425"/>
                    <a:pt x="195" y="444"/>
                    <a:pt x="196" y="452"/>
                  </a:cubicBezTo>
                  <a:cubicBezTo>
                    <a:pt x="196" y="454"/>
                    <a:pt x="192" y="453"/>
                    <a:pt x="193" y="456"/>
                  </a:cubicBezTo>
                  <a:cubicBezTo>
                    <a:pt x="190" y="451"/>
                    <a:pt x="200" y="464"/>
                    <a:pt x="201" y="465"/>
                  </a:cubicBezTo>
                  <a:cubicBezTo>
                    <a:pt x="207" y="471"/>
                    <a:pt x="207" y="469"/>
                    <a:pt x="212" y="477"/>
                  </a:cubicBezTo>
                  <a:cubicBezTo>
                    <a:pt x="218" y="488"/>
                    <a:pt x="217" y="487"/>
                    <a:pt x="218" y="496"/>
                  </a:cubicBezTo>
                  <a:cubicBezTo>
                    <a:pt x="239" y="532"/>
                    <a:pt x="265" y="563"/>
                    <a:pt x="286" y="598"/>
                  </a:cubicBezTo>
                  <a:cubicBezTo>
                    <a:pt x="288" y="602"/>
                    <a:pt x="293" y="609"/>
                    <a:pt x="293" y="609"/>
                  </a:cubicBezTo>
                  <a:cubicBezTo>
                    <a:pt x="295" y="613"/>
                    <a:pt x="291" y="612"/>
                    <a:pt x="293" y="616"/>
                  </a:cubicBezTo>
                  <a:cubicBezTo>
                    <a:pt x="294" y="619"/>
                    <a:pt x="296" y="616"/>
                    <a:pt x="299" y="620"/>
                  </a:cubicBezTo>
                  <a:cubicBezTo>
                    <a:pt x="307" y="633"/>
                    <a:pt x="316" y="649"/>
                    <a:pt x="325" y="662"/>
                  </a:cubicBezTo>
                  <a:cubicBezTo>
                    <a:pt x="349" y="694"/>
                    <a:pt x="373" y="733"/>
                    <a:pt x="393" y="759"/>
                  </a:cubicBezTo>
                  <a:cubicBezTo>
                    <a:pt x="396" y="765"/>
                    <a:pt x="386" y="760"/>
                    <a:pt x="392" y="768"/>
                  </a:cubicBezTo>
                  <a:cubicBezTo>
                    <a:pt x="422" y="815"/>
                    <a:pt x="455" y="863"/>
                    <a:pt x="489" y="911"/>
                  </a:cubicBezTo>
                  <a:cubicBezTo>
                    <a:pt x="491" y="915"/>
                    <a:pt x="484" y="916"/>
                    <a:pt x="489" y="920"/>
                  </a:cubicBezTo>
                  <a:cubicBezTo>
                    <a:pt x="493" y="928"/>
                    <a:pt x="497" y="922"/>
                    <a:pt x="502" y="928"/>
                  </a:cubicBezTo>
                  <a:cubicBezTo>
                    <a:pt x="503" y="933"/>
                    <a:pt x="504" y="937"/>
                    <a:pt x="502" y="941"/>
                  </a:cubicBezTo>
                  <a:cubicBezTo>
                    <a:pt x="539" y="998"/>
                    <a:pt x="587" y="1049"/>
                    <a:pt x="632" y="1102"/>
                  </a:cubicBezTo>
                  <a:cubicBezTo>
                    <a:pt x="674" y="1152"/>
                    <a:pt x="715" y="1202"/>
                    <a:pt x="756" y="1249"/>
                  </a:cubicBezTo>
                  <a:cubicBezTo>
                    <a:pt x="787" y="1286"/>
                    <a:pt x="822" y="1318"/>
                    <a:pt x="847" y="1354"/>
                  </a:cubicBezTo>
                  <a:cubicBezTo>
                    <a:pt x="868" y="1374"/>
                    <a:pt x="886" y="1394"/>
                    <a:pt x="904" y="1414"/>
                  </a:cubicBezTo>
                  <a:cubicBezTo>
                    <a:pt x="922" y="1434"/>
                    <a:pt x="940" y="1454"/>
                    <a:pt x="958" y="1474"/>
                  </a:cubicBezTo>
                  <a:cubicBezTo>
                    <a:pt x="985" y="1504"/>
                    <a:pt x="1013" y="1539"/>
                    <a:pt x="1039" y="1562"/>
                  </a:cubicBezTo>
                  <a:cubicBezTo>
                    <a:pt x="1043" y="1566"/>
                    <a:pt x="1050" y="1569"/>
                    <a:pt x="1055" y="1574"/>
                  </a:cubicBezTo>
                  <a:cubicBezTo>
                    <a:pt x="1063" y="1582"/>
                    <a:pt x="1066" y="1593"/>
                    <a:pt x="1074" y="1601"/>
                  </a:cubicBezTo>
                  <a:cubicBezTo>
                    <a:pt x="1094" y="1622"/>
                    <a:pt x="1119" y="1638"/>
                    <a:pt x="1140" y="1659"/>
                  </a:cubicBezTo>
                  <a:cubicBezTo>
                    <a:pt x="1151" y="1670"/>
                    <a:pt x="1163" y="1682"/>
                    <a:pt x="1174" y="1693"/>
                  </a:cubicBezTo>
                  <a:cubicBezTo>
                    <a:pt x="1192" y="1710"/>
                    <a:pt x="1192" y="1710"/>
                    <a:pt x="1192" y="1710"/>
                  </a:cubicBezTo>
                  <a:cubicBezTo>
                    <a:pt x="1198" y="1716"/>
                    <a:pt x="1204" y="1721"/>
                    <a:pt x="1210" y="1727"/>
                  </a:cubicBezTo>
                  <a:cubicBezTo>
                    <a:pt x="1217" y="1733"/>
                    <a:pt x="1225" y="1738"/>
                    <a:pt x="1233" y="1743"/>
                  </a:cubicBezTo>
                  <a:cubicBezTo>
                    <a:pt x="1240" y="1748"/>
                    <a:pt x="1248" y="1753"/>
                    <a:pt x="1256" y="1759"/>
                  </a:cubicBezTo>
                  <a:cubicBezTo>
                    <a:pt x="1265" y="1766"/>
                    <a:pt x="1273" y="1778"/>
                    <a:pt x="1283" y="1785"/>
                  </a:cubicBezTo>
                  <a:cubicBezTo>
                    <a:pt x="1311" y="1807"/>
                    <a:pt x="1344" y="1824"/>
                    <a:pt x="1372" y="1844"/>
                  </a:cubicBezTo>
                  <a:cubicBezTo>
                    <a:pt x="1408" y="1871"/>
                    <a:pt x="1444" y="1902"/>
                    <a:pt x="1488" y="1919"/>
                  </a:cubicBezTo>
                  <a:cubicBezTo>
                    <a:pt x="1509" y="1934"/>
                    <a:pt x="1533" y="1948"/>
                    <a:pt x="1558" y="1961"/>
                  </a:cubicBezTo>
                  <a:cubicBezTo>
                    <a:pt x="1582" y="1974"/>
                    <a:pt x="1607" y="1985"/>
                    <a:pt x="1629" y="1994"/>
                  </a:cubicBezTo>
                  <a:cubicBezTo>
                    <a:pt x="1660" y="2021"/>
                    <a:pt x="1701" y="2026"/>
                    <a:pt x="1740" y="2044"/>
                  </a:cubicBezTo>
                  <a:cubicBezTo>
                    <a:pt x="1744" y="2046"/>
                    <a:pt x="1746" y="2049"/>
                    <a:pt x="1750" y="2052"/>
                  </a:cubicBezTo>
                  <a:cubicBezTo>
                    <a:pt x="1779" y="2067"/>
                    <a:pt x="1812" y="2078"/>
                    <a:pt x="1843" y="2087"/>
                  </a:cubicBezTo>
                  <a:cubicBezTo>
                    <a:pt x="1874" y="2095"/>
                    <a:pt x="1904" y="2103"/>
                    <a:pt x="1927" y="2114"/>
                  </a:cubicBezTo>
                  <a:cubicBezTo>
                    <a:pt x="1948" y="2113"/>
                    <a:pt x="1961" y="2126"/>
                    <a:pt x="1977" y="2132"/>
                  </a:cubicBezTo>
                  <a:cubicBezTo>
                    <a:pt x="1995" y="2140"/>
                    <a:pt x="2014" y="2140"/>
                    <a:pt x="2032" y="2145"/>
                  </a:cubicBezTo>
                  <a:cubicBezTo>
                    <a:pt x="2037" y="2146"/>
                    <a:pt x="2042" y="2151"/>
                    <a:pt x="2048" y="2153"/>
                  </a:cubicBezTo>
                  <a:cubicBezTo>
                    <a:pt x="2065" y="2159"/>
                    <a:pt x="2084" y="2159"/>
                    <a:pt x="2104" y="2163"/>
                  </a:cubicBezTo>
                  <a:cubicBezTo>
                    <a:pt x="2133" y="2169"/>
                    <a:pt x="2161" y="2189"/>
                    <a:pt x="2196" y="2190"/>
                  </a:cubicBezTo>
                  <a:cubicBezTo>
                    <a:pt x="2221" y="2202"/>
                    <a:pt x="2257" y="2217"/>
                    <a:pt x="2288" y="2217"/>
                  </a:cubicBezTo>
                  <a:cubicBezTo>
                    <a:pt x="2334" y="2239"/>
                    <a:pt x="2386" y="2238"/>
                    <a:pt x="2435" y="2254"/>
                  </a:cubicBezTo>
                  <a:cubicBezTo>
                    <a:pt x="2452" y="2259"/>
                    <a:pt x="2466" y="2270"/>
                    <a:pt x="2484" y="2267"/>
                  </a:cubicBezTo>
                  <a:cubicBezTo>
                    <a:pt x="2501" y="2279"/>
                    <a:pt x="2523" y="2279"/>
                    <a:pt x="2544" y="2285"/>
                  </a:cubicBezTo>
                  <a:cubicBezTo>
                    <a:pt x="2566" y="2290"/>
                    <a:pt x="2587" y="2300"/>
                    <a:pt x="2610" y="2306"/>
                  </a:cubicBezTo>
                  <a:cubicBezTo>
                    <a:pt x="2642" y="2315"/>
                    <a:pt x="2683" y="2317"/>
                    <a:pt x="2705" y="2337"/>
                  </a:cubicBezTo>
                  <a:cubicBezTo>
                    <a:pt x="2710" y="2372"/>
                    <a:pt x="2741" y="2329"/>
                    <a:pt x="2766" y="2340"/>
                  </a:cubicBezTo>
                  <a:cubicBezTo>
                    <a:pt x="2778" y="2349"/>
                    <a:pt x="2775" y="2358"/>
                    <a:pt x="2779" y="2371"/>
                  </a:cubicBezTo>
                  <a:cubicBezTo>
                    <a:pt x="2790" y="2378"/>
                    <a:pt x="2803" y="2377"/>
                    <a:pt x="2815" y="2376"/>
                  </a:cubicBezTo>
                  <a:cubicBezTo>
                    <a:pt x="2829" y="2382"/>
                    <a:pt x="2837" y="2398"/>
                    <a:pt x="2856" y="2402"/>
                  </a:cubicBezTo>
                  <a:close/>
                  <a:moveTo>
                    <a:pt x="411" y="300"/>
                  </a:moveTo>
                  <a:cubicBezTo>
                    <a:pt x="412" y="300"/>
                    <a:pt x="413" y="298"/>
                    <a:pt x="412" y="297"/>
                  </a:cubicBezTo>
                  <a:cubicBezTo>
                    <a:pt x="420" y="297"/>
                    <a:pt x="416" y="309"/>
                    <a:pt x="411" y="300"/>
                  </a:cubicBezTo>
                  <a:close/>
                  <a:moveTo>
                    <a:pt x="406" y="298"/>
                  </a:moveTo>
                  <a:cubicBezTo>
                    <a:pt x="398" y="286"/>
                    <a:pt x="381" y="271"/>
                    <a:pt x="380" y="259"/>
                  </a:cubicBezTo>
                  <a:cubicBezTo>
                    <a:pt x="378" y="256"/>
                    <a:pt x="374" y="266"/>
                    <a:pt x="370" y="262"/>
                  </a:cubicBezTo>
                  <a:cubicBezTo>
                    <a:pt x="370" y="255"/>
                    <a:pt x="368" y="247"/>
                    <a:pt x="362" y="237"/>
                  </a:cubicBezTo>
                  <a:cubicBezTo>
                    <a:pt x="372" y="231"/>
                    <a:pt x="377" y="253"/>
                    <a:pt x="387" y="249"/>
                  </a:cubicBezTo>
                  <a:cubicBezTo>
                    <a:pt x="391" y="256"/>
                    <a:pt x="392" y="260"/>
                    <a:pt x="399" y="261"/>
                  </a:cubicBezTo>
                  <a:cubicBezTo>
                    <a:pt x="405" y="278"/>
                    <a:pt x="413" y="277"/>
                    <a:pt x="416" y="290"/>
                  </a:cubicBezTo>
                  <a:cubicBezTo>
                    <a:pt x="409" y="291"/>
                    <a:pt x="413" y="295"/>
                    <a:pt x="406" y="2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99"/>
            <p:cNvSpPr/>
            <p:nvPr/>
          </p:nvSpPr>
          <p:spPr bwMode="auto">
            <a:xfrm>
              <a:off x="760" y="1444"/>
              <a:ext cx="12" cy="15"/>
            </a:xfrm>
            <a:custGeom>
              <a:avLst/>
              <a:gdLst>
                <a:gd name="T0" fmla="*/ 9 w 9"/>
                <a:gd name="T1" fmla="*/ 9 h 9"/>
                <a:gd name="T2" fmla="*/ 0 w 9"/>
                <a:gd name="T3" fmla="*/ 2 h 9"/>
                <a:gd name="T4" fmla="*/ 9 w 9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6" y="9"/>
                    <a:pt x="3" y="5"/>
                    <a:pt x="0" y="2"/>
                  </a:cubicBezTo>
                  <a:cubicBezTo>
                    <a:pt x="4" y="0"/>
                    <a:pt x="9" y="4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00"/>
            <p:cNvSpPr/>
            <p:nvPr/>
          </p:nvSpPr>
          <p:spPr bwMode="auto">
            <a:xfrm>
              <a:off x="1063" y="849"/>
              <a:ext cx="14" cy="18"/>
            </a:xfrm>
            <a:custGeom>
              <a:avLst/>
              <a:gdLst>
                <a:gd name="T0" fmla="*/ 11 w 11"/>
                <a:gd name="T1" fmla="*/ 11 h 11"/>
                <a:gd name="T2" fmla="*/ 6 w 11"/>
                <a:gd name="T3" fmla="*/ 0 h 11"/>
                <a:gd name="T4" fmla="*/ 11 w 11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cubicBezTo>
                    <a:pt x="8" y="9"/>
                    <a:pt x="0" y="3"/>
                    <a:pt x="6" y="0"/>
                  </a:cubicBezTo>
                  <a:cubicBezTo>
                    <a:pt x="10" y="4"/>
                    <a:pt x="10" y="7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01"/>
            <p:cNvSpPr/>
            <p:nvPr/>
          </p:nvSpPr>
          <p:spPr bwMode="auto">
            <a:xfrm>
              <a:off x="1064" y="817"/>
              <a:ext cx="11" cy="21"/>
            </a:xfrm>
            <a:custGeom>
              <a:avLst/>
              <a:gdLst>
                <a:gd name="T0" fmla="*/ 8 w 8"/>
                <a:gd name="T1" fmla="*/ 11 h 13"/>
                <a:gd name="T2" fmla="*/ 0 w 8"/>
                <a:gd name="T3" fmla="*/ 2 h 13"/>
                <a:gd name="T4" fmla="*/ 8 w 8"/>
                <a:gd name="T5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3">
                  <a:moveTo>
                    <a:pt x="8" y="11"/>
                  </a:moveTo>
                  <a:cubicBezTo>
                    <a:pt x="5" y="13"/>
                    <a:pt x="3" y="4"/>
                    <a:pt x="0" y="2"/>
                  </a:cubicBezTo>
                  <a:cubicBezTo>
                    <a:pt x="3" y="0"/>
                    <a:pt x="8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02"/>
            <p:cNvSpPr/>
            <p:nvPr/>
          </p:nvSpPr>
          <p:spPr bwMode="auto">
            <a:xfrm>
              <a:off x="958" y="806"/>
              <a:ext cx="10" cy="18"/>
            </a:xfrm>
            <a:custGeom>
              <a:avLst/>
              <a:gdLst>
                <a:gd name="T0" fmla="*/ 8 w 8"/>
                <a:gd name="T1" fmla="*/ 11 h 11"/>
                <a:gd name="T2" fmla="*/ 0 w 8"/>
                <a:gd name="T3" fmla="*/ 1 h 11"/>
                <a:gd name="T4" fmla="*/ 8 w 8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1">
                  <a:moveTo>
                    <a:pt x="8" y="11"/>
                  </a:moveTo>
                  <a:cubicBezTo>
                    <a:pt x="5" y="10"/>
                    <a:pt x="0" y="5"/>
                    <a:pt x="0" y="1"/>
                  </a:cubicBezTo>
                  <a:cubicBezTo>
                    <a:pt x="3" y="0"/>
                    <a:pt x="6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03"/>
            <p:cNvSpPr/>
            <p:nvPr/>
          </p:nvSpPr>
          <p:spPr bwMode="auto">
            <a:xfrm>
              <a:off x="1003" y="710"/>
              <a:ext cx="21" cy="26"/>
            </a:xfrm>
            <a:custGeom>
              <a:avLst/>
              <a:gdLst>
                <a:gd name="T0" fmla="*/ 15 w 15"/>
                <a:gd name="T1" fmla="*/ 16 h 16"/>
                <a:gd name="T2" fmla="*/ 0 w 15"/>
                <a:gd name="T3" fmla="*/ 0 h 16"/>
                <a:gd name="T4" fmla="*/ 15 w 15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10" y="15"/>
                    <a:pt x="4" y="9"/>
                    <a:pt x="0" y="0"/>
                  </a:cubicBezTo>
                  <a:cubicBezTo>
                    <a:pt x="6" y="1"/>
                    <a:pt x="10" y="10"/>
                    <a:pt x="15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04"/>
            <p:cNvSpPr/>
            <p:nvPr/>
          </p:nvSpPr>
          <p:spPr bwMode="auto">
            <a:xfrm>
              <a:off x="589" y="859"/>
              <a:ext cx="32" cy="62"/>
            </a:xfrm>
            <a:custGeom>
              <a:avLst/>
              <a:gdLst>
                <a:gd name="T0" fmla="*/ 24 w 24"/>
                <a:gd name="T1" fmla="*/ 39 h 39"/>
                <a:gd name="T2" fmla="*/ 1 w 24"/>
                <a:gd name="T3" fmla="*/ 0 h 39"/>
                <a:gd name="T4" fmla="*/ 24 w 24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9">
                  <a:moveTo>
                    <a:pt x="24" y="39"/>
                  </a:moveTo>
                  <a:cubicBezTo>
                    <a:pt x="17" y="29"/>
                    <a:pt x="0" y="11"/>
                    <a:pt x="1" y="0"/>
                  </a:cubicBezTo>
                  <a:cubicBezTo>
                    <a:pt x="5" y="15"/>
                    <a:pt x="20" y="25"/>
                    <a:pt x="2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05"/>
            <p:cNvSpPr/>
            <p:nvPr/>
          </p:nvSpPr>
          <p:spPr bwMode="auto">
            <a:xfrm>
              <a:off x="710" y="676"/>
              <a:ext cx="47" cy="85"/>
            </a:xfrm>
            <a:custGeom>
              <a:avLst/>
              <a:gdLst>
                <a:gd name="T0" fmla="*/ 34 w 35"/>
                <a:gd name="T1" fmla="*/ 53 h 53"/>
                <a:gd name="T2" fmla="*/ 0 w 35"/>
                <a:gd name="T3" fmla="*/ 6 h 53"/>
                <a:gd name="T4" fmla="*/ 22 w 35"/>
                <a:gd name="T5" fmla="*/ 30 h 53"/>
                <a:gd name="T6" fmla="*/ 25 w 35"/>
                <a:gd name="T7" fmla="*/ 41 h 53"/>
                <a:gd name="T8" fmla="*/ 34 w 35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3">
                  <a:moveTo>
                    <a:pt x="34" y="53"/>
                  </a:moveTo>
                  <a:cubicBezTo>
                    <a:pt x="19" y="46"/>
                    <a:pt x="14" y="19"/>
                    <a:pt x="0" y="6"/>
                  </a:cubicBezTo>
                  <a:cubicBezTo>
                    <a:pt x="5" y="0"/>
                    <a:pt x="15" y="29"/>
                    <a:pt x="22" y="30"/>
                  </a:cubicBezTo>
                  <a:cubicBezTo>
                    <a:pt x="24" y="34"/>
                    <a:pt x="24" y="38"/>
                    <a:pt x="25" y="41"/>
                  </a:cubicBezTo>
                  <a:cubicBezTo>
                    <a:pt x="28" y="45"/>
                    <a:pt x="35" y="47"/>
                    <a:pt x="34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06"/>
            <p:cNvSpPr/>
            <p:nvPr/>
          </p:nvSpPr>
          <p:spPr bwMode="auto">
            <a:xfrm>
              <a:off x="654" y="494"/>
              <a:ext cx="10" cy="14"/>
            </a:xfrm>
            <a:custGeom>
              <a:avLst/>
              <a:gdLst>
                <a:gd name="T0" fmla="*/ 8 w 8"/>
                <a:gd name="T1" fmla="*/ 7 h 9"/>
                <a:gd name="T2" fmla="*/ 0 w 8"/>
                <a:gd name="T3" fmla="*/ 4 h 9"/>
                <a:gd name="T4" fmla="*/ 5 w 8"/>
                <a:gd name="T5" fmla="*/ 0 h 9"/>
                <a:gd name="T6" fmla="*/ 8 w 8"/>
                <a:gd name="T7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9">
                  <a:moveTo>
                    <a:pt x="8" y="7"/>
                  </a:moveTo>
                  <a:cubicBezTo>
                    <a:pt x="5" y="9"/>
                    <a:pt x="2" y="9"/>
                    <a:pt x="0" y="4"/>
                  </a:cubicBezTo>
                  <a:cubicBezTo>
                    <a:pt x="1" y="2"/>
                    <a:pt x="2" y="1"/>
                    <a:pt x="5" y="0"/>
                  </a:cubicBezTo>
                  <a:cubicBezTo>
                    <a:pt x="6" y="2"/>
                    <a:pt x="7" y="4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07"/>
            <p:cNvSpPr/>
            <p:nvPr/>
          </p:nvSpPr>
          <p:spPr bwMode="auto">
            <a:xfrm>
              <a:off x="508" y="312"/>
              <a:ext cx="53" cy="124"/>
            </a:xfrm>
            <a:custGeom>
              <a:avLst/>
              <a:gdLst>
                <a:gd name="T0" fmla="*/ 39 w 39"/>
                <a:gd name="T1" fmla="*/ 78 h 78"/>
                <a:gd name="T2" fmla="*/ 15 w 39"/>
                <a:gd name="T3" fmla="*/ 31 h 78"/>
                <a:gd name="T4" fmla="*/ 10 w 39"/>
                <a:gd name="T5" fmla="*/ 27 h 78"/>
                <a:gd name="T6" fmla="*/ 8 w 39"/>
                <a:gd name="T7" fmla="*/ 17 h 78"/>
                <a:gd name="T8" fmla="*/ 39 w 3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78">
                  <a:moveTo>
                    <a:pt x="39" y="78"/>
                  </a:moveTo>
                  <a:cubicBezTo>
                    <a:pt x="28" y="70"/>
                    <a:pt x="17" y="46"/>
                    <a:pt x="15" y="31"/>
                  </a:cubicBezTo>
                  <a:cubicBezTo>
                    <a:pt x="13" y="29"/>
                    <a:pt x="11" y="30"/>
                    <a:pt x="10" y="27"/>
                  </a:cubicBezTo>
                  <a:cubicBezTo>
                    <a:pt x="6" y="19"/>
                    <a:pt x="0" y="0"/>
                    <a:pt x="8" y="17"/>
                  </a:cubicBezTo>
                  <a:cubicBezTo>
                    <a:pt x="22" y="37"/>
                    <a:pt x="25" y="56"/>
                    <a:pt x="39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08"/>
            <p:cNvSpPr/>
            <p:nvPr/>
          </p:nvSpPr>
          <p:spPr bwMode="auto">
            <a:xfrm>
              <a:off x="633" y="356"/>
              <a:ext cx="11" cy="18"/>
            </a:xfrm>
            <a:custGeom>
              <a:avLst/>
              <a:gdLst>
                <a:gd name="T0" fmla="*/ 8 w 8"/>
                <a:gd name="T1" fmla="*/ 11 h 11"/>
                <a:gd name="T2" fmla="*/ 0 w 8"/>
                <a:gd name="T3" fmla="*/ 0 h 11"/>
                <a:gd name="T4" fmla="*/ 8 w 8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1">
                  <a:moveTo>
                    <a:pt x="8" y="11"/>
                  </a:moveTo>
                  <a:cubicBezTo>
                    <a:pt x="4" y="9"/>
                    <a:pt x="2" y="5"/>
                    <a:pt x="0" y="0"/>
                  </a:cubicBezTo>
                  <a:cubicBezTo>
                    <a:pt x="3" y="0"/>
                    <a:pt x="8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09"/>
            <p:cNvSpPr/>
            <p:nvPr/>
          </p:nvSpPr>
          <p:spPr bwMode="auto">
            <a:xfrm>
              <a:off x="393" y="451"/>
              <a:ext cx="12" cy="25"/>
            </a:xfrm>
            <a:custGeom>
              <a:avLst/>
              <a:gdLst>
                <a:gd name="T0" fmla="*/ 9 w 9"/>
                <a:gd name="T1" fmla="*/ 16 h 16"/>
                <a:gd name="T2" fmla="*/ 0 w 9"/>
                <a:gd name="T3" fmla="*/ 0 h 16"/>
                <a:gd name="T4" fmla="*/ 9 w 9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6">
                  <a:moveTo>
                    <a:pt x="9" y="16"/>
                  </a:moveTo>
                  <a:cubicBezTo>
                    <a:pt x="5" y="16"/>
                    <a:pt x="3" y="5"/>
                    <a:pt x="0" y="0"/>
                  </a:cubicBezTo>
                  <a:cubicBezTo>
                    <a:pt x="4" y="3"/>
                    <a:pt x="9" y="11"/>
                    <a:pt x="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10"/>
            <p:cNvSpPr/>
            <p:nvPr/>
          </p:nvSpPr>
          <p:spPr bwMode="auto">
            <a:xfrm>
              <a:off x="588" y="332"/>
              <a:ext cx="19" cy="39"/>
            </a:xfrm>
            <a:custGeom>
              <a:avLst/>
              <a:gdLst>
                <a:gd name="T0" fmla="*/ 14 w 14"/>
                <a:gd name="T1" fmla="*/ 24 h 24"/>
                <a:gd name="T2" fmla="*/ 0 w 14"/>
                <a:gd name="T3" fmla="*/ 7 h 24"/>
                <a:gd name="T4" fmla="*/ 14 w 14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" h="24">
                  <a:moveTo>
                    <a:pt x="14" y="24"/>
                  </a:moveTo>
                  <a:cubicBezTo>
                    <a:pt x="9" y="21"/>
                    <a:pt x="5" y="11"/>
                    <a:pt x="0" y="7"/>
                  </a:cubicBezTo>
                  <a:cubicBezTo>
                    <a:pt x="3" y="0"/>
                    <a:pt x="10" y="18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11"/>
            <p:cNvSpPr/>
            <p:nvPr/>
          </p:nvSpPr>
          <p:spPr bwMode="auto">
            <a:xfrm>
              <a:off x="609" y="315"/>
              <a:ext cx="18" cy="29"/>
            </a:xfrm>
            <a:custGeom>
              <a:avLst/>
              <a:gdLst>
                <a:gd name="T0" fmla="*/ 13 w 13"/>
                <a:gd name="T1" fmla="*/ 18 h 18"/>
                <a:gd name="T2" fmla="*/ 0 w 13"/>
                <a:gd name="T3" fmla="*/ 0 h 18"/>
                <a:gd name="T4" fmla="*/ 13 w 13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8">
                  <a:moveTo>
                    <a:pt x="13" y="18"/>
                  </a:moveTo>
                  <a:cubicBezTo>
                    <a:pt x="7" y="17"/>
                    <a:pt x="4" y="7"/>
                    <a:pt x="0" y="0"/>
                  </a:cubicBezTo>
                  <a:cubicBezTo>
                    <a:pt x="5" y="3"/>
                    <a:pt x="8" y="13"/>
                    <a:pt x="1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12"/>
            <p:cNvSpPr/>
            <p:nvPr/>
          </p:nvSpPr>
          <p:spPr bwMode="auto">
            <a:xfrm>
              <a:off x="338" y="454"/>
              <a:ext cx="14" cy="21"/>
            </a:xfrm>
            <a:custGeom>
              <a:avLst/>
              <a:gdLst>
                <a:gd name="T0" fmla="*/ 11 w 11"/>
                <a:gd name="T1" fmla="*/ 11 h 13"/>
                <a:gd name="T2" fmla="*/ 0 w 11"/>
                <a:gd name="T3" fmla="*/ 0 h 13"/>
                <a:gd name="T4" fmla="*/ 11 w 11"/>
                <a:gd name="T5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3">
                  <a:moveTo>
                    <a:pt x="11" y="11"/>
                  </a:moveTo>
                  <a:cubicBezTo>
                    <a:pt x="6" y="13"/>
                    <a:pt x="3" y="5"/>
                    <a:pt x="0" y="0"/>
                  </a:cubicBezTo>
                  <a:cubicBezTo>
                    <a:pt x="4" y="0"/>
                    <a:pt x="7" y="7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13"/>
            <p:cNvSpPr/>
            <p:nvPr/>
          </p:nvSpPr>
          <p:spPr bwMode="auto">
            <a:xfrm>
              <a:off x="364" y="379"/>
              <a:ext cx="25" cy="57"/>
            </a:xfrm>
            <a:custGeom>
              <a:avLst/>
              <a:gdLst>
                <a:gd name="T0" fmla="*/ 18 w 18"/>
                <a:gd name="T1" fmla="*/ 36 h 36"/>
                <a:gd name="T2" fmla="*/ 0 w 18"/>
                <a:gd name="T3" fmla="*/ 0 h 36"/>
                <a:gd name="T4" fmla="*/ 18 w 18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36">
                  <a:moveTo>
                    <a:pt x="18" y="36"/>
                  </a:moveTo>
                  <a:cubicBezTo>
                    <a:pt x="12" y="31"/>
                    <a:pt x="4" y="10"/>
                    <a:pt x="0" y="0"/>
                  </a:cubicBezTo>
                  <a:cubicBezTo>
                    <a:pt x="9" y="11"/>
                    <a:pt x="13" y="21"/>
                    <a:pt x="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14"/>
            <p:cNvSpPr/>
            <p:nvPr/>
          </p:nvSpPr>
          <p:spPr bwMode="auto">
            <a:xfrm>
              <a:off x="589" y="265"/>
              <a:ext cx="18" cy="45"/>
            </a:xfrm>
            <a:custGeom>
              <a:avLst/>
              <a:gdLst>
                <a:gd name="T0" fmla="*/ 13 w 13"/>
                <a:gd name="T1" fmla="*/ 28 h 28"/>
                <a:gd name="T2" fmla="*/ 0 w 13"/>
                <a:gd name="T3" fmla="*/ 0 h 28"/>
                <a:gd name="T4" fmla="*/ 13 w 13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28">
                  <a:moveTo>
                    <a:pt x="13" y="28"/>
                  </a:moveTo>
                  <a:cubicBezTo>
                    <a:pt x="4" y="22"/>
                    <a:pt x="3" y="7"/>
                    <a:pt x="0" y="0"/>
                  </a:cubicBezTo>
                  <a:cubicBezTo>
                    <a:pt x="7" y="6"/>
                    <a:pt x="6" y="20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15"/>
            <p:cNvSpPr/>
            <p:nvPr/>
          </p:nvSpPr>
          <p:spPr bwMode="auto">
            <a:xfrm>
              <a:off x="498" y="292"/>
              <a:ext cx="13" cy="24"/>
            </a:xfrm>
            <a:custGeom>
              <a:avLst/>
              <a:gdLst>
                <a:gd name="T0" fmla="*/ 10 w 10"/>
                <a:gd name="T1" fmla="*/ 15 h 15"/>
                <a:gd name="T2" fmla="*/ 0 w 10"/>
                <a:gd name="T3" fmla="*/ 3 h 15"/>
                <a:gd name="T4" fmla="*/ 10 w 10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5">
                  <a:moveTo>
                    <a:pt x="10" y="15"/>
                  </a:moveTo>
                  <a:cubicBezTo>
                    <a:pt x="6" y="13"/>
                    <a:pt x="3" y="7"/>
                    <a:pt x="0" y="3"/>
                  </a:cubicBezTo>
                  <a:cubicBezTo>
                    <a:pt x="6" y="0"/>
                    <a:pt x="7" y="10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16"/>
            <p:cNvSpPr/>
            <p:nvPr/>
          </p:nvSpPr>
          <p:spPr bwMode="auto">
            <a:xfrm>
              <a:off x="511" y="262"/>
              <a:ext cx="9" cy="21"/>
            </a:xfrm>
            <a:custGeom>
              <a:avLst/>
              <a:gdLst>
                <a:gd name="T0" fmla="*/ 7 w 7"/>
                <a:gd name="T1" fmla="*/ 13 h 13"/>
                <a:gd name="T2" fmla="*/ 0 w 7"/>
                <a:gd name="T3" fmla="*/ 0 h 13"/>
                <a:gd name="T4" fmla="*/ 7 w 7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3">
                  <a:moveTo>
                    <a:pt x="7" y="13"/>
                  </a:moveTo>
                  <a:cubicBezTo>
                    <a:pt x="2" y="11"/>
                    <a:pt x="2" y="6"/>
                    <a:pt x="0" y="0"/>
                  </a:cubicBezTo>
                  <a:cubicBezTo>
                    <a:pt x="4" y="0"/>
                    <a:pt x="5" y="10"/>
                    <a:pt x="7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17"/>
            <p:cNvSpPr/>
            <p:nvPr/>
          </p:nvSpPr>
          <p:spPr bwMode="auto">
            <a:xfrm>
              <a:off x="520" y="227"/>
              <a:ext cx="14" cy="22"/>
            </a:xfrm>
            <a:custGeom>
              <a:avLst/>
              <a:gdLst>
                <a:gd name="T0" fmla="*/ 10 w 10"/>
                <a:gd name="T1" fmla="*/ 14 h 14"/>
                <a:gd name="T2" fmla="*/ 8 w 10"/>
                <a:gd name="T3" fmla="*/ 0 h 14"/>
                <a:gd name="T4" fmla="*/ 5 w 10"/>
                <a:gd name="T5" fmla="*/ 5 h 14"/>
                <a:gd name="T6" fmla="*/ 10 w 10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cubicBezTo>
                    <a:pt x="6" y="13"/>
                    <a:pt x="0" y="1"/>
                    <a:pt x="8" y="0"/>
                  </a:cubicBezTo>
                  <a:cubicBezTo>
                    <a:pt x="10" y="4"/>
                    <a:pt x="7" y="4"/>
                    <a:pt x="5" y="5"/>
                  </a:cubicBezTo>
                  <a:cubicBezTo>
                    <a:pt x="6" y="10"/>
                    <a:pt x="9" y="8"/>
                    <a:pt x="1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18"/>
            <p:cNvSpPr/>
            <p:nvPr/>
          </p:nvSpPr>
          <p:spPr bwMode="auto">
            <a:xfrm>
              <a:off x="377" y="254"/>
              <a:ext cx="12" cy="42"/>
            </a:xfrm>
            <a:custGeom>
              <a:avLst/>
              <a:gdLst>
                <a:gd name="T0" fmla="*/ 0 w 9"/>
                <a:gd name="T1" fmla="*/ 0 h 26"/>
                <a:gd name="T2" fmla="*/ 0 w 9"/>
                <a:gd name="T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26">
                  <a:moveTo>
                    <a:pt x="0" y="0"/>
                  </a:moveTo>
                  <a:cubicBezTo>
                    <a:pt x="9" y="7"/>
                    <a:pt x="7" y="2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19"/>
            <p:cNvSpPr/>
            <p:nvPr/>
          </p:nvSpPr>
          <p:spPr bwMode="auto">
            <a:xfrm>
              <a:off x="285" y="212"/>
              <a:ext cx="13" cy="40"/>
            </a:xfrm>
            <a:custGeom>
              <a:avLst/>
              <a:gdLst>
                <a:gd name="T0" fmla="*/ 10 w 10"/>
                <a:gd name="T1" fmla="*/ 25 h 25"/>
                <a:gd name="T2" fmla="*/ 0 w 10"/>
                <a:gd name="T3" fmla="*/ 0 h 25"/>
                <a:gd name="T4" fmla="*/ 10 w 10"/>
                <a:gd name="T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25">
                  <a:moveTo>
                    <a:pt x="10" y="25"/>
                  </a:moveTo>
                  <a:cubicBezTo>
                    <a:pt x="5" y="18"/>
                    <a:pt x="3" y="10"/>
                    <a:pt x="0" y="0"/>
                  </a:cubicBezTo>
                  <a:cubicBezTo>
                    <a:pt x="4" y="5"/>
                    <a:pt x="10" y="20"/>
                    <a:pt x="1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20"/>
            <p:cNvSpPr/>
            <p:nvPr/>
          </p:nvSpPr>
          <p:spPr bwMode="auto">
            <a:xfrm>
              <a:off x="274" y="228"/>
              <a:ext cx="11" cy="26"/>
            </a:xfrm>
            <a:custGeom>
              <a:avLst/>
              <a:gdLst>
                <a:gd name="T0" fmla="*/ 8 w 8"/>
                <a:gd name="T1" fmla="*/ 12 h 16"/>
                <a:gd name="T2" fmla="*/ 5 w 8"/>
                <a:gd name="T3" fmla="*/ 2 h 16"/>
                <a:gd name="T4" fmla="*/ 8 w 8"/>
                <a:gd name="T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6">
                  <a:moveTo>
                    <a:pt x="8" y="12"/>
                  </a:moveTo>
                  <a:cubicBezTo>
                    <a:pt x="5" y="16"/>
                    <a:pt x="0" y="0"/>
                    <a:pt x="5" y="2"/>
                  </a:cubicBezTo>
                  <a:cubicBezTo>
                    <a:pt x="6" y="5"/>
                    <a:pt x="7" y="8"/>
                    <a:pt x="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21"/>
            <p:cNvSpPr/>
            <p:nvPr/>
          </p:nvSpPr>
          <p:spPr bwMode="auto">
            <a:xfrm>
              <a:off x="169" y="238"/>
              <a:ext cx="12" cy="21"/>
            </a:xfrm>
            <a:custGeom>
              <a:avLst/>
              <a:gdLst>
                <a:gd name="T0" fmla="*/ 8 w 9"/>
                <a:gd name="T1" fmla="*/ 13 h 13"/>
                <a:gd name="T2" fmla="*/ 0 w 9"/>
                <a:gd name="T3" fmla="*/ 0 h 13"/>
                <a:gd name="T4" fmla="*/ 8 w 9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3">
                  <a:moveTo>
                    <a:pt x="8" y="13"/>
                  </a:moveTo>
                  <a:cubicBezTo>
                    <a:pt x="4" y="11"/>
                    <a:pt x="1" y="5"/>
                    <a:pt x="0" y="0"/>
                  </a:cubicBezTo>
                  <a:cubicBezTo>
                    <a:pt x="4" y="0"/>
                    <a:pt x="9" y="10"/>
                    <a:pt x="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22"/>
            <p:cNvSpPr/>
            <p:nvPr/>
          </p:nvSpPr>
          <p:spPr bwMode="auto">
            <a:xfrm>
              <a:off x="146" y="128"/>
              <a:ext cx="17" cy="38"/>
            </a:xfrm>
            <a:custGeom>
              <a:avLst/>
              <a:gdLst>
                <a:gd name="T0" fmla="*/ 12 w 12"/>
                <a:gd name="T1" fmla="*/ 24 h 24"/>
                <a:gd name="T2" fmla="*/ 12 w 12"/>
                <a:gd name="T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24">
                  <a:moveTo>
                    <a:pt x="12" y="24"/>
                  </a:moveTo>
                  <a:cubicBezTo>
                    <a:pt x="0" y="9"/>
                    <a:pt x="5" y="0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23"/>
            <p:cNvSpPr/>
            <p:nvPr/>
          </p:nvSpPr>
          <p:spPr bwMode="auto">
            <a:xfrm>
              <a:off x="394" y="801"/>
              <a:ext cx="27" cy="48"/>
            </a:xfrm>
            <a:custGeom>
              <a:avLst/>
              <a:gdLst>
                <a:gd name="T0" fmla="*/ 20 w 20"/>
                <a:gd name="T1" fmla="*/ 30 h 30"/>
                <a:gd name="T2" fmla="*/ 10 w 20"/>
                <a:gd name="T3" fmla="*/ 24 h 30"/>
                <a:gd name="T4" fmla="*/ 0 w 20"/>
                <a:gd name="T5" fmla="*/ 0 h 30"/>
                <a:gd name="T6" fmla="*/ 20 w 20"/>
                <a:gd name="T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30">
                  <a:moveTo>
                    <a:pt x="20" y="30"/>
                  </a:moveTo>
                  <a:cubicBezTo>
                    <a:pt x="17" y="28"/>
                    <a:pt x="14" y="25"/>
                    <a:pt x="10" y="24"/>
                  </a:cubicBezTo>
                  <a:cubicBezTo>
                    <a:pt x="12" y="16"/>
                    <a:pt x="2" y="8"/>
                    <a:pt x="0" y="0"/>
                  </a:cubicBezTo>
                  <a:cubicBezTo>
                    <a:pt x="11" y="6"/>
                    <a:pt x="9" y="19"/>
                    <a:pt x="2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24"/>
            <p:cNvSpPr/>
            <p:nvPr/>
          </p:nvSpPr>
          <p:spPr bwMode="auto">
            <a:xfrm>
              <a:off x="399" y="321"/>
              <a:ext cx="56" cy="130"/>
            </a:xfrm>
            <a:custGeom>
              <a:avLst/>
              <a:gdLst>
                <a:gd name="T0" fmla="*/ 22 w 41"/>
                <a:gd name="T1" fmla="*/ 75 h 81"/>
                <a:gd name="T2" fmla="*/ 19 w 41"/>
                <a:gd name="T3" fmla="*/ 65 h 81"/>
                <a:gd name="T4" fmla="*/ 24 w 41"/>
                <a:gd name="T5" fmla="*/ 65 h 81"/>
                <a:gd name="T6" fmla="*/ 13 w 41"/>
                <a:gd name="T7" fmla="*/ 44 h 81"/>
                <a:gd name="T8" fmla="*/ 18 w 41"/>
                <a:gd name="T9" fmla="*/ 44 h 81"/>
                <a:gd name="T10" fmla="*/ 0 w 41"/>
                <a:gd name="T11" fmla="*/ 0 h 81"/>
                <a:gd name="T12" fmla="*/ 23 w 41"/>
                <a:gd name="T13" fmla="*/ 41 h 81"/>
                <a:gd name="T14" fmla="*/ 41 w 41"/>
                <a:gd name="T15" fmla="*/ 81 h 81"/>
                <a:gd name="T16" fmla="*/ 25 w 41"/>
                <a:gd name="T17" fmla="*/ 65 h 81"/>
                <a:gd name="T18" fmla="*/ 22 w 41"/>
                <a:gd name="T19" fmla="*/ 7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81">
                  <a:moveTo>
                    <a:pt x="22" y="75"/>
                  </a:moveTo>
                  <a:cubicBezTo>
                    <a:pt x="19" y="70"/>
                    <a:pt x="23" y="70"/>
                    <a:pt x="19" y="65"/>
                  </a:cubicBezTo>
                  <a:cubicBezTo>
                    <a:pt x="21" y="64"/>
                    <a:pt x="22" y="66"/>
                    <a:pt x="24" y="65"/>
                  </a:cubicBezTo>
                  <a:cubicBezTo>
                    <a:pt x="21" y="56"/>
                    <a:pt x="17" y="52"/>
                    <a:pt x="13" y="44"/>
                  </a:cubicBezTo>
                  <a:cubicBezTo>
                    <a:pt x="15" y="44"/>
                    <a:pt x="16" y="45"/>
                    <a:pt x="18" y="44"/>
                  </a:cubicBezTo>
                  <a:cubicBezTo>
                    <a:pt x="7" y="37"/>
                    <a:pt x="13" y="20"/>
                    <a:pt x="0" y="0"/>
                  </a:cubicBezTo>
                  <a:cubicBezTo>
                    <a:pt x="8" y="9"/>
                    <a:pt x="16" y="25"/>
                    <a:pt x="23" y="41"/>
                  </a:cubicBezTo>
                  <a:cubicBezTo>
                    <a:pt x="30" y="57"/>
                    <a:pt x="36" y="73"/>
                    <a:pt x="41" y="81"/>
                  </a:cubicBezTo>
                  <a:cubicBezTo>
                    <a:pt x="34" y="81"/>
                    <a:pt x="32" y="64"/>
                    <a:pt x="25" y="65"/>
                  </a:cubicBezTo>
                  <a:cubicBezTo>
                    <a:pt x="21" y="66"/>
                    <a:pt x="29" y="75"/>
                    <a:pt x="2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25"/>
            <p:cNvSpPr/>
            <p:nvPr/>
          </p:nvSpPr>
          <p:spPr bwMode="auto">
            <a:xfrm>
              <a:off x="577" y="308"/>
              <a:ext cx="17" cy="37"/>
            </a:xfrm>
            <a:custGeom>
              <a:avLst/>
              <a:gdLst>
                <a:gd name="T0" fmla="*/ 5 w 13"/>
                <a:gd name="T1" fmla="*/ 8 h 23"/>
                <a:gd name="T2" fmla="*/ 4 w 13"/>
                <a:gd name="T3" fmla="*/ 8 h 23"/>
                <a:gd name="T4" fmla="*/ 0 w 13"/>
                <a:gd name="T5" fmla="*/ 0 h 23"/>
                <a:gd name="T6" fmla="*/ 5 w 13"/>
                <a:gd name="T7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3">
                  <a:moveTo>
                    <a:pt x="5" y="8"/>
                  </a:moveTo>
                  <a:cubicBezTo>
                    <a:pt x="4" y="6"/>
                    <a:pt x="3" y="7"/>
                    <a:pt x="4" y="8"/>
                  </a:cubicBezTo>
                  <a:cubicBezTo>
                    <a:pt x="0" y="9"/>
                    <a:pt x="0" y="1"/>
                    <a:pt x="0" y="0"/>
                  </a:cubicBezTo>
                  <a:cubicBezTo>
                    <a:pt x="5" y="0"/>
                    <a:pt x="13" y="23"/>
                    <a:pt x="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26"/>
            <p:cNvSpPr/>
            <p:nvPr/>
          </p:nvSpPr>
          <p:spPr bwMode="auto">
            <a:xfrm>
              <a:off x="485" y="64"/>
              <a:ext cx="91" cy="241"/>
            </a:xfrm>
            <a:custGeom>
              <a:avLst/>
              <a:gdLst>
                <a:gd name="T0" fmla="*/ 6 w 67"/>
                <a:gd name="T1" fmla="*/ 39 h 151"/>
                <a:gd name="T2" fmla="*/ 12 w 67"/>
                <a:gd name="T3" fmla="*/ 37 h 151"/>
                <a:gd name="T4" fmla="*/ 3 w 67"/>
                <a:gd name="T5" fmla="*/ 0 h 151"/>
                <a:gd name="T6" fmla="*/ 24 w 67"/>
                <a:gd name="T7" fmla="*/ 49 h 151"/>
                <a:gd name="T8" fmla="*/ 24 w 67"/>
                <a:gd name="T9" fmla="*/ 59 h 151"/>
                <a:gd name="T10" fmla="*/ 67 w 67"/>
                <a:gd name="T11" fmla="*/ 151 h 151"/>
                <a:gd name="T12" fmla="*/ 50 w 67"/>
                <a:gd name="T13" fmla="*/ 123 h 151"/>
                <a:gd name="T14" fmla="*/ 32 w 67"/>
                <a:gd name="T15" fmla="*/ 93 h 151"/>
                <a:gd name="T16" fmla="*/ 34 w 67"/>
                <a:gd name="T17" fmla="*/ 95 h 151"/>
                <a:gd name="T18" fmla="*/ 6 w 67"/>
                <a:gd name="T19" fmla="*/ 3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7" h="151">
                  <a:moveTo>
                    <a:pt x="6" y="39"/>
                  </a:moveTo>
                  <a:cubicBezTo>
                    <a:pt x="12" y="37"/>
                    <a:pt x="12" y="37"/>
                    <a:pt x="12" y="37"/>
                  </a:cubicBezTo>
                  <a:cubicBezTo>
                    <a:pt x="8" y="26"/>
                    <a:pt x="0" y="9"/>
                    <a:pt x="3" y="0"/>
                  </a:cubicBezTo>
                  <a:cubicBezTo>
                    <a:pt x="11" y="11"/>
                    <a:pt x="11" y="43"/>
                    <a:pt x="24" y="49"/>
                  </a:cubicBezTo>
                  <a:cubicBezTo>
                    <a:pt x="23" y="52"/>
                    <a:pt x="25" y="56"/>
                    <a:pt x="24" y="59"/>
                  </a:cubicBezTo>
                  <a:cubicBezTo>
                    <a:pt x="44" y="86"/>
                    <a:pt x="48" y="122"/>
                    <a:pt x="67" y="151"/>
                  </a:cubicBezTo>
                  <a:cubicBezTo>
                    <a:pt x="57" y="147"/>
                    <a:pt x="54" y="135"/>
                    <a:pt x="50" y="123"/>
                  </a:cubicBezTo>
                  <a:cubicBezTo>
                    <a:pt x="46" y="111"/>
                    <a:pt x="43" y="98"/>
                    <a:pt x="32" y="93"/>
                  </a:cubicBezTo>
                  <a:cubicBezTo>
                    <a:pt x="32" y="90"/>
                    <a:pt x="33" y="93"/>
                    <a:pt x="34" y="95"/>
                  </a:cubicBezTo>
                  <a:cubicBezTo>
                    <a:pt x="28" y="81"/>
                    <a:pt x="22" y="54"/>
                    <a:pt x="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27"/>
            <p:cNvSpPr/>
            <p:nvPr/>
          </p:nvSpPr>
          <p:spPr bwMode="auto">
            <a:xfrm>
              <a:off x="255" y="228"/>
              <a:ext cx="17" cy="18"/>
            </a:xfrm>
            <a:custGeom>
              <a:avLst/>
              <a:gdLst>
                <a:gd name="T0" fmla="*/ 10 w 12"/>
                <a:gd name="T1" fmla="*/ 11 h 11"/>
                <a:gd name="T2" fmla="*/ 0 w 12"/>
                <a:gd name="T3" fmla="*/ 1 h 11"/>
                <a:gd name="T4" fmla="*/ 10 w 12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1">
                  <a:moveTo>
                    <a:pt x="10" y="11"/>
                  </a:moveTo>
                  <a:cubicBezTo>
                    <a:pt x="6" y="9"/>
                    <a:pt x="4" y="4"/>
                    <a:pt x="0" y="1"/>
                  </a:cubicBezTo>
                  <a:cubicBezTo>
                    <a:pt x="0" y="0"/>
                    <a:pt x="12" y="6"/>
                    <a:pt x="1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82" name="图片 8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0" b="89985" l="0" r="100000">
                        <a14:foregroundMark x1="70557" y1="41416" x2="80823" y2="38630"/>
                        <a14:foregroundMark x1="52761" y1="41152" x2="56928" y2="41416"/>
                        <a14:foregroundMark x1="10366" y1="45030" x2="10166" y2="55309"/>
                        <a14:foregroundMark x1="6576" y1="44051" x2="6652" y2="49473"/>
                        <a14:foregroundMark x1="6099" y1="43637" x2="6200" y2="48494"/>
                        <a14:foregroundMark x1="63128" y1="71611" x2="64859" y2="78087"/>
                        <a14:foregroundMark x1="62651" y1="78840" x2="60417" y2="79556"/>
                        <a14:backgroundMark x1="678" y1="31928" x2="99849" y2="31062"/>
                        <a14:backgroundMark x1="53238" y1="40851" x2="56074" y2="40926"/>
                        <a14:backgroundMark x1="67771" y1="41039" x2="69352" y2="40700"/>
                        <a14:backgroundMark x1="70683" y1="40361" x2="76029" y2="38931"/>
                        <a14:backgroundMark x1="67520" y1="41265" x2="77008" y2="387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1488" y="1844447"/>
            <a:ext cx="8635661" cy="5757107"/>
          </a:xfrm>
          <a:prstGeom prst="rect">
            <a:avLst/>
          </a:prstGeom>
        </p:spPr>
      </p:pic>
      <p:sp>
        <p:nvSpPr>
          <p:cNvPr id="83" name="Freeform 31242"/>
          <p:cNvSpPr/>
          <p:nvPr userDrawn="1"/>
        </p:nvSpPr>
        <p:spPr bwMode="auto">
          <a:xfrm rot="21063996">
            <a:off x="-2101114" y="5587034"/>
            <a:ext cx="12504581" cy="1450246"/>
          </a:xfrm>
          <a:custGeom>
            <a:avLst/>
            <a:gdLst>
              <a:gd name="T0" fmla="*/ 2419 w 2492"/>
              <a:gd name="T1" fmla="*/ 333 h 505"/>
              <a:gd name="T2" fmla="*/ 2456 w 2492"/>
              <a:gd name="T3" fmla="*/ 300 h 505"/>
              <a:gd name="T4" fmla="*/ 2479 w 2492"/>
              <a:gd name="T5" fmla="*/ 262 h 505"/>
              <a:gd name="T6" fmla="*/ 2458 w 2492"/>
              <a:gd name="T7" fmla="*/ 223 h 505"/>
              <a:gd name="T8" fmla="*/ 2469 w 2492"/>
              <a:gd name="T9" fmla="*/ 194 h 505"/>
              <a:gd name="T10" fmla="*/ 2466 w 2492"/>
              <a:gd name="T11" fmla="*/ 143 h 505"/>
              <a:gd name="T12" fmla="*/ 2387 w 2492"/>
              <a:gd name="T13" fmla="*/ 112 h 505"/>
              <a:gd name="T14" fmla="*/ 2186 w 2492"/>
              <a:gd name="T15" fmla="*/ 74 h 505"/>
              <a:gd name="T16" fmla="*/ 2084 w 2492"/>
              <a:gd name="T17" fmla="*/ 59 h 505"/>
              <a:gd name="T18" fmla="*/ 1971 w 2492"/>
              <a:gd name="T19" fmla="*/ 43 h 505"/>
              <a:gd name="T20" fmla="*/ 1884 w 2492"/>
              <a:gd name="T21" fmla="*/ 40 h 505"/>
              <a:gd name="T22" fmla="*/ 1786 w 2492"/>
              <a:gd name="T23" fmla="*/ 27 h 505"/>
              <a:gd name="T24" fmla="*/ 1688 w 2492"/>
              <a:gd name="T25" fmla="*/ 15 h 505"/>
              <a:gd name="T26" fmla="*/ 1629 w 2492"/>
              <a:gd name="T27" fmla="*/ 17 h 505"/>
              <a:gd name="T28" fmla="*/ 1564 w 2492"/>
              <a:gd name="T29" fmla="*/ 9 h 505"/>
              <a:gd name="T30" fmla="*/ 1297 w 2492"/>
              <a:gd name="T31" fmla="*/ 6 h 505"/>
              <a:gd name="T32" fmla="*/ 1032 w 2492"/>
              <a:gd name="T33" fmla="*/ 5 h 505"/>
              <a:gd name="T34" fmla="*/ 684 w 2492"/>
              <a:gd name="T35" fmla="*/ 28 h 505"/>
              <a:gd name="T36" fmla="*/ 462 w 2492"/>
              <a:gd name="T37" fmla="*/ 60 h 505"/>
              <a:gd name="T38" fmla="*/ 369 w 2492"/>
              <a:gd name="T39" fmla="*/ 66 h 505"/>
              <a:gd name="T40" fmla="*/ 310 w 2492"/>
              <a:gd name="T41" fmla="*/ 78 h 505"/>
              <a:gd name="T42" fmla="*/ 212 w 2492"/>
              <a:gd name="T43" fmla="*/ 106 h 505"/>
              <a:gd name="T44" fmla="*/ 110 w 2492"/>
              <a:gd name="T45" fmla="*/ 124 h 505"/>
              <a:gd name="T46" fmla="*/ 45 w 2492"/>
              <a:gd name="T47" fmla="*/ 180 h 505"/>
              <a:gd name="T48" fmla="*/ 0 w 2492"/>
              <a:gd name="T49" fmla="*/ 182 h 505"/>
              <a:gd name="T50" fmla="*/ 35 w 2492"/>
              <a:gd name="T51" fmla="*/ 240 h 505"/>
              <a:gd name="T52" fmla="*/ 75 w 2492"/>
              <a:gd name="T53" fmla="*/ 292 h 505"/>
              <a:gd name="T54" fmla="*/ 99 w 2492"/>
              <a:gd name="T55" fmla="*/ 350 h 505"/>
              <a:gd name="T56" fmla="*/ 166 w 2492"/>
              <a:gd name="T57" fmla="*/ 357 h 505"/>
              <a:gd name="T58" fmla="*/ 121 w 2492"/>
              <a:gd name="T59" fmla="*/ 396 h 505"/>
              <a:gd name="T60" fmla="*/ 150 w 2492"/>
              <a:gd name="T61" fmla="*/ 397 h 505"/>
              <a:gd name="T62" fmla="*/ 162 w 2492"/>
              <a:gd name="T63" fmla="*/ 421 h 505"/>
              <a:gd name="T64" fmla="*/ 177 w 2492"/>
              <a:gd name="T65" fmla="*/ 440 h 505"/>
              <a:gd name="T66" fmla="*/ 193 w 2492"/>
              <a:gd name="T67" fmla="*/ 466 h 505"/>
              <a:gd name="T68" fmla="*/ 294 w 2492"/>
              <a:gd name="T69" fmla="*/ 467 h 505"/>
              <a:gd name="T70" fmla="*/ 369 w 2492"/>
              <a:gd name="T71" fmla="*/ 490 h 505"/>
              <a:gd name="T72" fmla="*/ 512 w 2492"/>
              <a:gd name="T73" fmla="*/ 472 h 505"/>
              <a:gd name="T74" fmla="*/ 608 w 2492"/>
              <a:gd name="T75" fmla="*/ 450 h 505"/>
              <a:gd name="T76" fmla="*/ 720 w 2492"/>
              <a:gd name="T77" fmla="*/ 437 h 505"/>
              <a:gd name="T78" fmla="*/ 992 w 2492"/>
              <a:gd name="T79" fmla="*/ 421 h 505"/>
              <a:gd name="T80" fmla="*/ 1375 w 2492"/>
              <a:gd name="T81" fmla="*/ 420 h 505"/>
              <a:gd name="T82" fmla="*/ 1613 w 2492"/>
              <a:gd name="T83" fmla="*/ 424 h 505"/>
              <a:gd name="T84" fmla="*/ 1736 w 2492"/>
              <a:gd name="T85" fmla="*/ 427 h 505"/>
              <a:gd name="T86" fmla="*/ 1829 w 2492"/>
              <a:gd name="T87" fmla="*/ 436 h 505"/>
              <a:gd name="T88" fmla="*/ 1970 w 2492"/>
              <a:gd name="T89" fmla="*/ 452 h 505"/>
              <a:gd name="T90" fmla="*/ 2138 w 2492"/>
              <a:gd name="T91" fmla="*/ 464 h 505"/>
              <a:gd name="T92" fmla="*/ 2270 w 2492"/>
              <a:gd name="T93" fmla="*/ 487 h 505"/>
              <a:gd name="T94" fmla="*/ 2368 w 2492"/>
              <a:gd name="T95" fmla="*/ 498 h 505"/>
              <a:gd name="T96" fmla="*/ 2395 w 2492"/>
              <a:gd name="T97" fmla="*/ 458 h 505"/>
              <a:gd name="T98" fmla="*/ 2407 w 2492"/>
              <a:gd name="T99" fmla="*/ 437 h 505"/>
              <a:gd name="T100" fmla="*/ 2436 w 2492"/>
              <a:gd name="T101" fmla="*/ 437 h 505"/>
              <a:gd name="T102" fmla="*/ 2468 w 2492"/>
              <a:gd name="T103" fmla="*/ 400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92" h="505">
                <a:moveTo>
                  <a:pt x="2482" y="326"/>
                </a:moveTo>
                <a:cubicBezTo>
                  <a:pt x="2480" y="325"/>
                  <a:pt x="2474" y="327"/>
                  <a:pt x="2469" y="331"/>
                </a:cubicBezTo>
                <a:cubicBezTo>
                  <a:pt x="2458" y="338"/>
                  <a:pt x="2416" y="340"/>
                  <a:pt x="2419" y="333"/>
                </a:cubicBezTo>
                <a:cubicBezTo>
                  <a:pt x="2420" y="330"/>
                  <a:pt x="2425" y="329"/>
                  <a:pt x="2429" y="329"/>
                </a:cubicBezTo>
                <a:cubicBezTo>
                  <a:pt x="2433" y="330"/>
                  <a:pt x="2441" y="327"/>
                  <a:pt x="2447" y="323"/>
                </a:cubicBezTo>
                <a:cubicBezTo>
                  <a:pt x="2455" y="318"/>
                  <a:pt x="2457" y="313"/>
                  <a:pt x="2456" y="300"/>
                </a:cubicBezTo>
                <a:cubicBezTo>
                  <a:pt x="2456" y="291"/>
                  <a:pt x="2454" y="282"/>
                  <a:pt x="2451" y="281"/>
                </a:cubicBezTo>
                <a:cubicBezTo>
                  <a:pt x="2441" y="275"/>
                  <a:pt x="2447" y="267"/>
                  <a:pt x="2462" y="267"/>
                </a:cubicBezTo>
                <a:cubicBezTo>
                  <a:pt x="2471" y="267"/>
                  <a:pt x="2478" y="265"/>
                  <a:pt x="2479" y="262"/>
                </a:cubicBezTo>
                <a:cubicBezTo>
                  <a:pt x="2480" y="259"/>
                  <a:pt x="2478" y="257"/>
                  <a:pt x="2473" y="257"/>
                </a:cubicBezTo>
                <a:cubicBezTo>
                  <a:pt x="2463" y="257"/>
                  <a:pt x="2456" y="251"/>
                  <a:pt x="2452" y="235"/>
                </a:cubicBezTo>
                <a:cubicBezTo>
                  <a:pt x="2449" y="225"/>
                  <a:pt x="2450" y="224"/>
                  <a:pt x="2458" y="223"/>
                </a:cubicBezTo>
                <a:cubicBezTo>
                  <a:pt x="2463" y="223"/>
                  <a:pt x="2467" y="220"/>
                  <a:pt x="2466" y="217"/>
                </a:cubicBezTo>
                <a:cubicBezTo>
                  <a:pt x="2466" y="214"/>
                  <a:pt x="2469" y="210"/>
                  <a:pt x="2471" y="209"/>
                </a:cubicBezTo>
                <a:cubicBezTo>
                  <a:pt x="2475" y="207"/>
                  <a:pt x="2475" y="204"/>
                  <a:pt x="2469" y="194"/>
                </a:cubicBezTo>
                <a:cubicBezTo>
                  <a:pt x="2463" y="183"/>
                  <a:pt x="2463" y="181"/>
                  <a:pt x="2468" y="179"/>
                </a:cubicBezTo>
                <a:cubicBezTo>
                  <a:pt x="2472" y="177"/>
                  <a:pt x="2473" y="174"/>
                  <a:pt x="2471" y="171"/>
                </a:cubicBezTo>
                <a:cubicBezTo>
                  <a:pt x="2469" y="168"/>
                  <a:pt x="2467" y="155"/>
                  <a:pt x="2466" y="143"/>
                </a:cubicBezTo>
                <a:cubicBezTo>
                  <a:pt x="2466" y="119"/>
                  <a:pt x="2466" y="119"/>
                  <a:pt x="2466" y="119"/>
                </a:cubicBezTo>
                <a:cubicBezTo>
                  <a:pt x="2432" y="122"/>
                  <a:pt x="2432" y="122"/>
                  <a:pt x="2432" y="122"/>
                </a:cubicBezTo>
                <a:cubicBezTo>
                  <a:pt x="2400" y="124"/>
                  <a:pt x="2399" y="124"/>
                  <a:pt x="2387" y="112"/>
                </a:cubicBezTo>
                <a:cubicBezTo>
                  <a:pt x="2378" y="102"/>
                  <a:pt x="2368" y="98"/>
                  <a:pt x="2343" y="93"/>
                </a:cubicBezTo>
                <a:cubicBezTo>
                  <a:pt x="2303" y="86"/>
                  <a:pt x="2267" y="83"/>
                  <a:pt x="2217" y="82"/>
                </a:cubicBezTo>
                <a:cubicBezTo>
                  <a:pt x="2213" y="82"/>
                  <a:pt x="2199" y="78"/>
                  <a:pt x="2186" y="74"/>
                </a:cubicBezTo>
                <a:cubicBezTo>
                  <a:pt x="2172" y="71"/>
                  <a:pt x="2156" y="67"/>
                  <a:pt x="2149" y="68"/>
                </a:cubicBezTo>
                <a:cubicBezTo>
                  <a:pt x="2143" y="68"/>
                  <a:pt x="2135" y="66"/>
                  <a:pt x="2133" y="64"/>
                </a:cubicBezTo>
                <a:cubicBezTo>
                  <a:pt x="2130" y="61"/>
                  <a:pt x="2108" y="59"/>
                  <a:pt x="2084" y="59"/>
                </a:cubicBezTo>
                <a:cubicBezTo>
                  <a:pt x="2060" y="59"/>
                  <a:pt x="2030" y="56"/>
                  <a:pt x="2019" y="53"/>
                </a:cubicBezTo>
                <a:cubicBezTo>
                  <a:pt x="2007" y="50"/>
                  <a:pt x="1992" y="47"/>
                  <a:pt x="1986" y="47"/>
                </a:cubicBezTo>
                <a:cubicBezTo>
                  <a:pt x="1980" y="47"/>
                  <a:pt x="1973" y="46"/>
                  <a:pt x="1971" y="43"/>
                </a:cubicBezTo>
                <a:cubicBezTo>
                  <a:pt x="1969" y="40"/>
                  <a:pt x="1967" y="40"/>
                  <a:pt x="1965" y="44"/>
                </a:cubicBezTo>
                <a:cubicBezTo>
                  <a:pt x="1962" y="49"/>
                  <a:pt x="1955" y="49"/>
                  <a:pt x="1926" y="44"/>
                </a:cubicBezTo>
                <a:cubicBezTo>
                  <a:pt x="1906" y="40"/>
                  <a:pt x="1887" y="38"/>
                  <a:pt x="1884" y="40"/>
                </a:cubicBezTo>
                <a:cubicBezTo>
                  <a:pt x="1880" y="41"/>
                  <a:pt x="1874" y="39"/>
                  <a:pt x="1870" y="35"/>
                </a:cubicBezTo>
                <a:cubicBezTo>
                  <a:pt x="1862" y="28"/>
                  <a:pt x="1851" y="27"/>
                  <a:pt x="1810" y="32"/>
                </a:cubicBezTo>
                <a:cubicBezTo>
                  <a:pt x="1796" y="33"/>
                  <a:pt x="1790" y="32"/>
                  <a:pt x="1786" y="27"/>
                </a:cubicBezTo>
                <a:cubicBezTo>
                  <a:pt x="1778" y="17"/>
                  <a:pt x="1743" y="11"/>
                  <a:pt x="1729" y="17"/>
                </a:cubicBezTo>
                <a:cubicBezTo>
                  <a:pt x="1714" y="23"/>
                  <a:pt x="1704" y="23"/>
                  <a:pt x="1696" y="16"/>
                </a:cubicBezTo>
                <a:cubicBezTo>
                  <a:pt x="1691" y="11"/>
                  <a:pt x="1689" y="11"/>
                  <a:pt x="1688" y="15"/>
                </a:cubicBezTo>
                <a:cubicBezTo>
                  <a:pt x="1687" y="19"/>
                  <a:pt x="1684" y="18"/>
                  <a:pt x="1679" y="13"/>
                </a:cubicBezTo>
                <a:cubicBezTo>
                  <a:pt x="1672" y="7"/>
                  <a:pt x="1667" y="6"/>
                  <a:pt x="1651" y="9"/>
                </a:cubicBezTo>
                <a:cubicBezTo>
                  <a:pt x="1641" y="11"/>
                  <a:pt x="1631" y="14"/>
                  <a:pt x="1629" y="17"/>
                </a:cubicBezTo>
                <a:cubicBezTo>
                  <a:pt x="1627" y="20"/>
                  <a:pt x="1623" y="20"/>
                  <a:pt x="1614" y="17"/>
                </a:cubicBezTo>
                <a:cubicBezTo>
                  <a:pt x="1608" y="15"/>
                  <a:pt x="1598" y="13"/>
                  <a:pt x="1592" y="13"/>
                </a:cubicBezTo>
                <a:cubicBezTo>
                  <a:pt x="1586" y="14"/>
                  <a:pt x="1573" y="12"/>
                  <a:pt x="1564" y="9"/>
                </a:cubicBezTo>
                <a:cubicBezTo>
                  <a:pt x="1547" y="5"/>
                  <a:pt x="1522" y="2"/>
                  <a:pt x="1505" y="2"/>
                </a:cubicBezTo>
                <a:cubicBezTo>
                  <a:pt x="1500" y="2"/>
                  <a:pt x="1464" y="4"/>
                  <a:pt x="1424" y="5"/>
                </a:cubicBezTo>
                <a:cubicBezTo>
                  <a:pt x="1385" y="6"/>
                  <a:pt x="1327" y="7"/>
                  <a:pt x="1297" y="6"/>
                </a:cubicBezTo>
                <a:cubicBezTo>
                  <a:pt x="1267" y="5"/>
                  <a:pt x="1211" y="6"/>
                  <a:pt x="1174" y="7"/>
                </a:cubicBezTo>
                <a:cubicBezTo>
                  <a:pt x="1137" y="9"/>
                  <a:pt x="1101" y="11"/>
                  <a:pt x="1094" y="11"/>
                </a:cubicBezTo>
                <a:cubicBezTo>
                  <a:pt x="1057" y="12"/>
                  <a:pt x="1036" y="10"/>
                  <a:pt x="1032" y="5"/>
                </a:cubicBezTo>
                <a:cubicBezTo>
                  <a:pt x="1029" y="0"/>
                  <a:pt x="1027" y="0"/>
                  <a:pt x="1025" y="3"/>
                </a:cubicBezTo>
                <a:cubicBezTo>
                  <a:pt x="1021" y="10"/>
                  <a:pt x="942" y="15"/>
                  <a:pt x="796" y="20"/>
                </a:cubicBezTo>
                <a:cubicBezTo>
                  <a:pt x="736" y="22"/>
                  <a:pt x="686" y="25"/>
                  <a:pt x="684" y="28"/>
                </a:cubicBezTo>
                <a:cubicBezTo>
                  <a:pt x="681" y="30"/>
                  <a:pt x="657" y="33"/>
                  <a:pt x="631" y="34"/>
                </a:cubicBezTo>
                <a:cubicBezTo>
                  <a:pt x="572" y="37"/>
                  <a:pt x="500" y="53"/>
                  <a:pt x="500" y="63"/>
                </a:cubicBezTo>
                <a:cubicBezTo>
                  <a:pt x="500" y="70"/>
                  <a:pt x="481" y="69"/>
                  <a:pt x="462" y="60"/>
                </a:cubicBezTo>
                <a:cubicBezTo>
                  <a:pt x="444" y="53"/>
                  <a:pt x="423" y="54"/>
                  <a:pt x="413" y="62"/>
                </a:cubicBezTo>
                <a:cubicBezTo>
                  <a:pt x="411" y="64"/>
                  <a:pt x="400" y="67"/>
                  <a:pt x="389" y="69"/>
                </a:cubicBezTo>
                <a:cubicBezTo>
                  <a:pt x="373" y="72"/>
                  <a:pt x="369" y="71"/>
                  <a:pt x="369" y="66"/>
                </a:cubicBezTo>
                <a:cubicBezTo>
                  <a:pt x="369" y="62"/>
                  <a:pt x="365" y="58"/>
                  <a:pt x="361" y="57"/>
                </a:cubicBezTo>
                <a:cubicBezTo>
                  <a:pt x="352" y="55"/>
                  <a:pt x="322" y="67"/>
                  <a:pt x="323" y="73"/>
                </a:cubicBezTo>
                <a:cubicBezTo>
                  <a:pt x="323" y="75"/>
                  <a:pt x="317" y="77"/>
                  <a:pt x="310" y="78"/>
                </a:cubicBezTo>
                <a:cubicBezTo>
                  <a:pt x="302" y="78"/>
                  <a:pt x="294" y="81"/>
                  <a:pt x="290" y="87"/>
                </a:cubicBezTo>
                <a:cubicBezTo>
                  <a:pt x="285" y="93"/>
                  <a:pt x="276" y="96"/>
                  <a:pt x="258" y="98"/>
                </a:cubicBezTo>
                <a:cubicBezTo>
                  <a:pt x="244" y="99"/>
                  <a:pt x="223" y="103"/>
                  <a:pt x="212" y="106"/>
                </a:cubicBezTo>
                <a:cubicBezTo>
                  <a:pt x="160" y="119"/>
                  <a:pt x="152" y="121"/>
                  <a:pt x="141" y="119"/>
                </a:cubicBezTo>
                <a:cubicBezTo>
                  <a:pt x="135" y="117"/>
                  <a:pt x="129" y="119"/>
                  <a:pt x="127" y="121"/>
                </a:cubicBezTo>
                <a:cubicBezTo>
                  <a:pt x="126" y="124"/>
                  <a:pt x="119" y="125"/>
                  <a:pt x="110" y="124"/>
                </a:cubicBezTo>
                <a:cubicBezTo>
                  <a:pt x="87" y="120"/>
                  <a:pt x="60" y="133"/>
                  <a:pt x="53" y="150"/>
                </a:cubicBezTo>
                <a:cubicBezTo>
                  <a:pt x="50" y="160"/>
                  <a:pt x="50" y="164"/>
                  <a:pt x="53" y="165"/>
                </a:cubicBezTo>
                <a:cubicBezTo>
                  <a:pt x="65" y="168"/>
                  <a:pt x="59" y="178"/>
                  <a:pt x="45" y="180"/>
                </a:cubicBezTo>
                <a:cubicBezTo>
                  <a:pt x="24" y="181"/>
                  <a:pt x="19" y="181"/>
                  <a:pt x="9" y="178"/>
                </a:cubicBezTo>
                <a:cubicBezTo>
                  <a:pt x="9" y="178"/>
                  <a:pt x="9" y="178"/>
                  <a:pt x="9" y="178"/>
                </a:cubicBezTo>
                <a:cubicBezTo>
                  <a:pt x="2" y="176"/>
                  <a:pt x="0" y="177"/>
                  <a:pt x="0" y="182"/>
                </a:cubicBezTo>
                <a:cubicBezTo>
                  <a:pt x="0" y="186"/>
                  <a:pt x="2" y="189"/>
                  <a:pt x="3" y="189"/>
                </a:cubicBezTo>
                <a:cubicBezTo>
                  <a:pt x="8" y="189"/>
                  <a:pt x="22" y="216"/>
                  <a:pt x="22" y="224"/>
                </a:cubicBezTo>
                <a:cubicBezTo>
                  <a:pt x="22" y="227"/>
                  <a:pt x="28" y="234"/>
                  <a:pt x="35" y="240"/>
                </a:cubicBezTo>
                <a:cubicBezTo>
                  <a:pt x="42" y="245"/>
                  <a:pt x="48" y="254"/>
                  <a:pt x="49" y="260"/>
                </a:cubicBezTo>
                <a:cubicBezTo>
                  <a:pt x="50" y="266"/>
                  <a:pt x="56" y="272"/>
                  <a:pt x="63" y="275"/>
                </a:cubicBezTo>
                <a:cubicBezTo>
                  <a:pt x="73" y="279"/>
                  <a:pt x="75" y="283"/>
                  <a:pt x="75" y="292"/>
                </a:cubicBezTo>
                <a:cubicBezTo>
                  <a:pt x="74" y="299"/>
                  <a:pt x="77" y="308"/>
                  <a:pt x="83" y="315"/>
                </a:cubicBezTo>
                <a:cubicBezTo>
                  <a:pt x="88" y="321"/>
                  <a:pt x="94" y="332"/>
                  <a:pt x="96" y="338"/>
                </a:cubicBezTo>
                <a:cubicBezTo>
                  <a:pt x="99" y="350"/>
                  <a:pt x="99" y="350"/>
                  <a:pt x="99" y="350"/>
                </a:cubicBezTo>
                <a:cubicBezTo>
                  <a:pt x="135" y="349"/>
                  <a:pt x="135" y="349"/>
                  <a:pt x="135" y="349"/>
                </a:cubicBezTo>
                <a:cubicBezTo>
                  <a:pt x="161" y="347"/>
                  <a:pt x="172" y="348"/>
                  <a:pt x="173" y="352"/>
                </a:cubicBezTo>
                <a:cubicBezTo>
                  <a:pt x="175" y="355"/>
                  <a:pt x="172" y="357"/>
                  <a:pt x="166" y="357"/>
                </a:cubicBezTo>
                <a:cubicBezTo>
                  <a:pt x="161" y="357"/>
                  <a:pt x="158" y="360"/>
                  <a:pt x="158" y="365"/>
                </a:cubicBezTo>
                <a:cubicBezTo>
                  <a:pt x="158" y="378"/>
                  <a:pt x="151" y="384"/>
                  <a:pt x="137" y="385"/>
                </a:cubicBezTo>
                <a:cubicBezTo>
                  <a:pt x="125" y="386"/>
                  <a:pt x="122" y="388"/>
                  <a:pt x="121" y="396"/>
                </a:cubicBezTo>
                <a:cubicBezTo>
                  <a:pt x="121" y="403"/>
                  <a:pt x="123" y="405"/>
                  <a:pt x="129" y="405"/>
                </a:cubicBezTo>
                <a:cubicBezTo>
                  <a:pt x="134" y="405"/>
                  <a:pt x="139" y="402"/>
                  <a:pt x="141" y="398"/>
                </a:cubicBezTo>
                <a:cubicBezTo>
                  <a:pt x="144" y="392"/>
                  <a:pt x="145" y="392"/>
                  <a:pt x="150" y="397"/>
                </a:cubicBezTo>
                <a:cubicBezTo>
                  <a:pt x="154" y="403"/>
                  <a:pt x="154" y="405"/>
                  <a:pt x="147" y="409"/>
                </a:cubicBezTo>
                <a:cubicBezTo>
                  <a:pt x="135" y="415"/>
                  <a:pt x="136" y="426"/>
                  <a:pt x="149" y="426"/>
                </a:cubicBezTo>
                <a:cubicBezTo>
                  <a:pt x="155" y="425"/>
                  <a:pt x="160" y="423"/>
                  <a:pt x="162" y="421"/>
                </a:cubicBezTo>
                <a:cubicBezTo>
                  <a:pt x="165" y="414"/>
                  <a:pt x="172" y="420"/>
                  <a:pt x="170" y="427"/>
                </a:cubicBezTo>
                <a:cubicBezTo>
                  <a:pt x="169" y="431"/>
                  <a:pt x="170" y="433"/>
                  <a:pt x="172" y="433"/>
                </a:cubicBezTo>
                <a:cubicBezTo>
                  <a:pt x="175" y="433"/>
                  <a:pt x="177" y="436"/>
                  <a:pt x="177" y="440"/>
                </a:cubicBezTo>
                <a:cubicBezTo>
                  <a:pt x="177" y="443"/>
                  <a:pt x="175" y="446"/>
                  <a:pt x="173" y="446"/>
                </a:cubicBezTo>
                <a:cubicBezTo>
                  <a:pt x="165" y="446"/>
                  <a:pt x="169" y="455"/>
                  <a:pt x="179" y="458"/>
                </a:cubicBezTo>
                <a:cubicBezTo>
                  <a:pt x="185" y="460"/>
                  <a:pt x="191" y="464"/>
                  <a:pt x="193" y="466"/>
                </a:cubicBezTo>
                <a:cubicBezTo>
                  <a:pt x="194" y="469"/>
                  <a:pt x="203" y="469"/>
                  <a:pt x="213" y="468"/>
                </a:cubicBezTo>
                <a:cubicBezTo>
                  <a:pt x="223" y="466"/>
                  <a:pt x="242" y="466"/>
                  <a:pt x="256" y="468"/>
                </a:cubicBezTo>
                <a:cubicBezTo>
                  <a:pt x="270" y="470"/>
                  <a:pt x="287" y="470"/>
                  <a:pt x="294" y="467"/>
                </a:cubicBezTo>
                <a:cubicBezTo>
                  <a:pt x="310" y="462"/>
                  <a:pt x="317" y="466"/>
                  <a:pt x="306" y="474"/>
                </a:cubicBezTo>
                <a:cubicBezTo>
                  <a:pt x="301" y="478"/>
                  <a:pt x="297" y="483"/>
                  <a:pt x="297" y="487"/>
                </a:cubicBezTo>
                <a:cubicBezTo>
                  <a:pt x="297" y="494"/>
                  <a:pt x="319" y="495"/>
                  <a:pt x="369" y="490"/>
                </a:cubicBezTo>
                <a:cubicBezTo>
                  <a:pt x="391" y="487"/>
                  <a:pt x="422" y="484"/>
                  <a:pt x="437" y="483"/>
                </a:cubicBezTo>
                <a:cubicBezTo>
                  <a:pt x="452" y="481"/>
                  <a:pt x="473" y="478"/>
                  <a:pt x="483" y="475"/>
                </a:cubicBezTo>
                <a:cubicBezTo>
                  <a:pt x="494" y="472"/>
                  <a:pt x="507" y="471"/>
                  <a:pt x="512" y="472"/>
                </a:cubicBezTo>
                <a:cubicBezTo>
                  <a:pt x="518" y="474"/>
                  <a:pt x="525" y="472"/>
                  <a:pt x="529" y="468"/>
                </a:cubicBezTo>
                <a:cubicBezTo>
                  <a:pt x="537" y="461"/>
                  <a:pt x="585" y="449"/>
                  <a:pt x="595" y="453"/>
                </a:cubicBezTo>
                <a:cubicBezTo>
                  <a:pt x="599" y="454"/>
                  <a:pt x="604" y="453"/>
                  <a:pt x="608" y="450"/>
                </a:cubicBezTo>
                <a:cubicBezTo>
                  <a:pt x="611" y="446"/>
                  <a:pt x="621" y="445"/>
                  <a:pt x="632" y="446"/>
                </a:cubicBezTo>
                <a:cubicBezTo>
                  <a:pt x="643" y="447"/>
                  <a:pt x="653" y="445"/>
                  <a:pt x="656" y="443"/>
                </a:cubicBezTo>
                <a:cubicBezTo>
                  <a:pt x="658" y="440"/>
                  <a:pt x="683" y="438"/>
                  <a:pt x="720" y="437"/>
                </a:cubicBezTo>
                <a:cubicBezTo>
                  <a:pt x="821" y="435"/>
                  <a:pt x="834" y="434"/>
                  <a:pt x="878" y="430"/>
                </a:cubicBezTo>
                <a:cubicBezTo>
                  <a:pt x="901" y="428"/>
                  <a:pt x="936" y="426"/>
                  <a:pt x="955" y="426"/>
                </a:cubicBezTo>
                <a:cubicBezTo>
                  <a:pt x="976" y="426"/>
                  <a:pt x="990" y="424"/>
                  <a:pt x="992" y="421"/>
                </a:cubicBezTo>
                <a:cubicBezTo>
                  <a:pt x="993" y="419"/>
                  <a:pt x="997" y="418"/>
                  <a:pt x="1000" y="420"/>
                </a:cubicBezTo>
                <a:cubicBezTo>
                  <a:pt x="1003" y="421"/>
                  <a:pt x="1059" y="422"/>
                  <a:pt x="1125" y="420"/>
                </a:cubicBezTo>
                <a:cubicBezTo>
                  <a:pt x="1279" y="417"/>
                  <a:pt x="1351" y="417"/>
                  <a:pt x="1375" y="420"/>
                </a:cubicBezTo>
                <a:cubicBezTo>
                  <a:pt x="1386" y="421"/>
                  <a:pt x="1428" y="421"/>
                  <a:pt x="1468" y="419"/>
                </a:cubicBezTo>
                <a:cubicBezTo>
                  <a:pt x="1509" y="418"/>
                  <a:pt x="1549" y="418"/>
                  <a:pt x="1557" y="420"/>
                </a:cubicBezTo>
                <a:cubicBezTo>
                  <a:pt x="1566" y="422"/>
                  <a:pt x="1591" y="424"/>
                  <a:pt x="1613" y="424"/>
                </a:cubicBezTo>
                <a:cubicBezTo>
                  <a:pt x="1635" y="425"/>
                  <a:pt x="1666" y="427"/>
                  <a:pt x="1682" y="429"/>
                </a:cubicBezTo>
                <a:cubicBezTo>
                  <a:pt x="1698" y="432"/>
                  <a:pt x="1716" y="432"/>
                  <a:pt x="1722" y="430"/>
                </a:cubicBezTo>
                <a:cubicBezTo>
                  <a:pt x="1728" y="428"/>
                  <a:pt x="1735" y="427"/>
                  <a:pt x="1736" y="427"/>
                </a:cubicBezTo>
                <a:cubicBezTo>
                  <a:pt x="1738" y="427"/>
                  <a:pt x="1756" y="428"/>
                  <a:pt x="1776" y="428"/>
                </a:cubicBezTo>
                <a:cubicBezTo>
                  <a:pt x="1796" y="429"/>
                  <a:pt x="1816" y="431"/>
                  <a:pt x="1821" y="434"/>
                </a:cubicBezTo>
                <a:cubicBezTo>
                  <a:pt x="1825" y="436"/>
                  <a:pt x="1829" y="437"/>
                  <a:pt x="1829" y="436"/>
                </a:cubicBezTo>
                <a:cubicBezTo>
                  <a:pt x="1829" y="435"/>
                  <a:pt x="1835" y="436"/>
                  <a:pt x="1843" y="438"/>
                </a:cubicBezTo>
                <a:cubicBezTo>
                  <a:pt x="1865" y="444"/>
                  <a:pt x="1941" y="451"/>
                  <a:pt x="1949" y="448"/>
                </a:cubicBezTo>
                <a:cubicBezTo>
                  <a:pt x="1953" y="447"/>
                  <a:pt x="1963" y="448"/>
                  <a:pt x="1970" y="452"/>
                </a:cubicBezTo>
                <a:cubicBezTo>
                  <a:pt x="1999" y="463"/>
                  <a:pt x="2119" y="472"/>
                  <a:pt x="2124" y="463"/>
                </a:cubicBezTo>
                <a:cubicBezTo>
                  <a:pt x="2126" y="460"/>
                  <a:pt x="2131" y="458"/>
                  <a:pt x="2135" y="458"/>
                </a:cubicBezTo>
                <a:cubicBezTo>
                  <a:pt x="2143" y="458"/>
                  <a:pt x="2143" y="458"/>
                  <a:pt x="2138" y="464"/>
                </a:cubicBezTo>
                <a:cubicBezTo>
                  <a:pt x="2127" y="476"/>
                  <a:pt x="2130" y="479"/>
                  <a:pt x="2150" y="479"/>
                </a:cubicBezTo>
                <a:cubicBezTo>
                  <a:pt x="2160" y="478"/>
                  <a:pt x="2177" y="481"/>
                  <a:pt x="2187" y="486"/>
                </a:cubicBezTo>
                <a:cubicBezTo>
                  <a:pt x="2209" y="495"/>
                  <a:pt x="2249" y="495"/>
                  <a:pt x="2270" y="487"/>
                </a:cubicBezTo>
                <a:cubicBezTo>
                  <a:pt x="2281" y="482"/>
                  <a:pt x="2287" y="483"/>
                  <a:pt x="2304" y="489"/>
                </a:cubicBezTo>
                <a:cubicBezTo>
                  <a:pt x="2315" y="492"/>
                  <a:pt x="2333" y="495"/>
                  <a:pt x="2343" y="495"/>
                </a:cubicBezTo>
                <a:cubicBezTo>
                  <a:pt x="2354" y="494"/>
                  <a:pt x="2365" y="496"/>
                  <a:pt x="2368" y="498"/>
                </a:cubicBezTo>
                <a:cubicBezTo>
                  <a:pt x="2377" y="505"/>
                  <a:pt x="2381" y="498"/>
                  <a:pt x="2377" y="481"/>
                </a:cubicBezTo>
                <a:cubicBezTo>
                  <a:pt x="2374" y="472"/>
                  <a:pt x="2372" y="463"/>
                  <a:pt x="2372" y="460"/>
                </a:cubicBezTo>
                <a:cubicBezTo>
                  <a:pt x="2372" y="454"/>
                  <a:pt x="2391" y="452"/>
                  <a:pt x="2395" y="458"/>
                </a:cubicBezTo>
                <a:cubicBezTo>
                  <a:pt x="2399" y="464"/>
                  <a:pt x="2419" y="463"/>
                  <a:pt x="2427" y="457"/>
                </a:cubicBezTo>
                <a:cubicBezTo>
                  <a:pt x="2432" y="453"/>
                  <a:pt x="2432" y="452"/>
                  <a:pt x="2423" y="445"/>
                </a:cubicBezTo>
                <a:cubicBezTo>
                  <a:pt x="2418" y="440"/>
                  <a:pt x="2410" y="437"/>
                  <a:pt x="2407" y="437"/>
                </a:cubicBezTo>
                <a:cubicBezTo>
                  <a:pt x="2404" y="437"/>
                  <a:pt x="2401" y="434"/>
                  <a:pt x="2401" y="431"/>
                </a:cubicBezTo>
                <a:cubicBezTo>
                  <a:pt x="2401" y="426"/>
                  <a:pt x="2405" y="424"/>
                  <a:pt x="2412" y="424"/>
                </a:cubicBezTo>
                <a:cubicBezTo>
                  <a:pt x="2426" y="424"/>
                  <a:pt x="2432" y="427"/>
                  <a:pt x="2436" y="437"/>
                </a:cubicBezTo>
                <a:cubicBezTo>
                  <a:pt x="2439" y="444"/>
                  <a:pt x="2455" y="446"/>
                  <a:pt x="2464" y="440"/>
                </a:cubicBezTo>
                <a:cubicBezTo>
                  <a:pt x="2467" y="438"/>
                  <a:pt x="2464" y="433"/>
                  <a:pt x="2454" y="425"/>
                </a:cubicBezTo>
                <a:cubicBezTo>
                  <a:pt x="2430" y="406"/>
                  <a:pt x="2434" y="399"/>
                  <a:pt x="2468" y="400"/>
                </a:cubicBezTo>
                <a:cubicBezTo>
                  <a:pt x="2477" y="401"/>
                  <a:pt x="2480" y="398"/>
                  <a:pt x="2485" y="380"/>
                </a:cubicBezTo>
                <a:cubicBezTo>
                  <a:pt x="2492" y="360"/>
                  <a:pt x="2490" y="331"/>
                  <a:pt x="2482" y="3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8231786" y="1160463"/>
            <a:ext cx="3151707" cy="835719"/>
            <a:chOff x="713386" y="1446438"/>
            <a:chExt cx="3151707" cy="835719"/>
          </a:xfrm>
        </p:grpSpPr>
        <p:sp>
          <p:nvSpPr>
            <p:cNvPr id="86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38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65" name="图片 16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71" name="标题 1"/>
          <p:cNvSpPr>
            <a:spLocks noGrp="1"/>
          </p:cNvSpPr>
          <p:nvPr>
            <p:ph type="title" hasCustomPrompt="1"/>
          </p:nvPr>
        </p:nvSpPr>
        <p:spPr>
          <a:xfrm>
            <a:off x="5025985" y="2224064"/>
            <a:ext cx="6501514" cy="1446550"/>
          </a:xfrm>
          <a:noFill/>
        </p:spPr>
        <p:txBody>
          <a:bodyPr wrap="none" rtlCol="0">
            <a:noAutofit/>
          </a:bodyPr>
          <a:lstStyle>
            <a:lvl1pPr algn="r">
              <a:lnSpc>
                <a:spcPct val="100000"/>
              </a:lnSpc>
              <a:defRPr lang="zh-CN" altLang="en-US" sz="4400" b="1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4400" b="1" dirty="0">
                <a:solidFill>
                  <a:schemeClr val="accent1"/>
                </a:solidFill>
              </a:rPr>
              <a:t>南京医科大学</a:t>
            </a:r>
            <a:br>
              <a:rPr lang="zh-CN" altLang="en-US" sz="4400" b="1" dirty="0">
                <a:solidFill>
                  <a:schemeClr val="accent1"/>
                </a:solidFill>
              </a:rPr>
            </a:br>
            <a:r>
              <a:rPr lang="zh-CN" altLang="en-US" sz="4400" b="1" dirty="0">
                <a:solidFill>
                  <a:schemeClr val="accent1"/>
                </a:solidFill>
              </a:rPr>
              <a:t>汇报答辩通用模板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74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5791200" y="3902069"/>
            <a:ext cx="5731725" cy="424732"/>
          </a:xfrm>
        </p:spPr>
        <p:txBody>
          <a:bodyPr wrap="square">
            <a:spAutoFit/>
          </a:bodyPr>
          <a:lstStyle>
            <a:lvl1pPr marL="0" indent="0" algn="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B3DEF-03C2-4CB0-8E8A-A07A4F1231A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12825" y="2066925"/>
            <a:ext cx="4838700" cy="3225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FE39E0-CC6D-4261-9C83-8B845693C73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60400" y="1609725"/>
            <a:ext cx="4914451" cy="27447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0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6653172" y="1609725"/>
            <a:ext cx="4872712" cy="274478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5DDA9B-6BC2-4E91-8FA0-5FEC7499251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0400" y="179228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2" name="图片占位符 9"/>
          <p:cNvSpPr>
            <a:spLocks noGrp="1"/>
          </p:cNvSpPr>
          <p:nvPr>
            <p:ph type="pic" sz="quarter" idx="14"/>
          </p:nvPr>
        </p:nvSpPr>
        <p:spPr>
          <a:xfrm>
            <a:off x="8018206" y="179228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3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349750" y="388705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95FB69-D3F2-49DF-ACAE-AE874AACB1D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508125" y="1589088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4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6179771" y="1589088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5" name="图片占位符 10"/>
          <p:cNvSpPr>
            <a:spLocks noGrp="1"/>
          </p:cNvSpPr>
          <p:nvPr>
            <p:ph type="pic" sz="quarter" idx="15"/>
          </p:nvPr>
        </p:nvSpPr>
        <p:spPr>
          <a:xfrm>
            <a:off x="1508125" y="3964932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6" name="图片占位符 10"/>
          <p:cNvSpPr>
            <a:spLocks noGrp="1"/>
          </p:cNvSpPr>
          <p:nvPr>
            <p:ph type="pic" sz="quarter" idx="16"/>
          </p:nvPr>
        </p:nvSpPr>
        <p:spPr>
          <a:xfrm>
            <a:off x="6179771" y="3964932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794194-6DD5-4210-A652-F6C57567FA3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720725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3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2960278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4" name="图片占位符 10"/>
          <p:cNvSpPr>
            <a:spLocks noGrp="1"/>
          </p:cNvSpPr>
          <p:nvPr>
            <p:ph type="pic" sz="quarter" idx="15"/>
          </p:nvPr>
        </p:nvSpPr>
        <p:spPr>
          <a:xfrm>
            <a:off x="5199830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5" name="图片占位符 10"/>
          <p:cNvSpPr>
            <a:spLocks noGrp="1"/>
          </p:cNvSpPr>
          <p:nvPr>
            <p:ph type="pic" sz="quarter" idx="16"/>
          </p:nvPr>
        </p:nvSpPr>
        <p:spPr>
          <a:xfrm>
            <a:off x="7439383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6" name="图片占位符 10"/>
          <p:cNvSpPr>
            <a:spLocks noGrp="1"/>
          </p:cNvSpPr>
          <p:nvPr>
            <p:ph type="pic" sz="quarter" idx="17"/>
          </p:nvPr>
        </p:nvSpPr>
        <p:spPr>
          <a:xfrm>
            <a:off x="9678935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AA479B-24A8-4E4C-A9F5-39E3756F5FB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46609" y="2507392"/>
            <a:ext cx="2761745" cy="276174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2F530F-5526-491E-A412-74B340122D2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90605" y="1449388"/>
            <a:ext cx="1714507" cy="2286000"/>
          </a:xfr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1090605" y="3972895"/>
            <a:ext cx="1714507" cy="2286000"/>
          </a:xfrm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9951B-4873-4FD3-A3F9-1A9D42A0A79C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586479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3" name="图片占位符 9"/>
          <p:cNvSpPr>
            <a:spLocks noGrp="1"/>
          </p:cNvSpPr>
          <p:nvPr>
            <p:ph type="pic" sz="quarter" idx="15"/>
          </p:nvPr>
        </p:nvSpPr>
        <p:spPr>
          <a:xfrm>
            <a:off x="8700151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1" name="图片占位符 9"/>
          <p:cNvSpPr>
            <a:spLocks noGrp="1"/>
          </p:cNvSpPr>
          <p:nvPr>
            <p:ph type="pic" sz="quarter" idx="16"/>
          </p:nvPr>
        </p:nvSpPr>
        <p:spPr>
          <a:xfrm>
            <a:off x="5151120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60401" y="1968804"/>
            <a:ext cx="5051410" cy="33216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媒体占位符 9"/>
          <p:cNvSpPr>
            <a:spLocks noGrp="1"/>
          </p:cNvSpPr>
          <p:nvPr>
            <p:ph type="media" sz="quarter" idx="13"/>
          </p:nvPr>
        </p:nvSpPr>
        <p:spPr>
          <a:xfrm>
            <a:off x="1832495" y="1719460"/>
            <a:ext cx="7133048" cy="4008239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89" name="Picture 1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10927" y1="5606" x2="11101" y2="98636"/>
                        <a14:foregroundMark x1="10927" y1="3939" x2="89773" y2="4242"/>
                        <a14:foregroundMark x1="89948" y1="6364" x2="89948" y2="99242"/>
                        <a14:foregroundMark x1="874" y1="96515" x2="90297" y2="97273"/>
                        <a14:foregroundMark x1="12587" y1="98333" x2="31731" y2="99242"/>
                        <a14:foregroundMark x1="90472" y1="4394" x2="90647" y2="31515"/>
                        <a14:backgroundMark x1="17395" y1="13333" x2="86451" y2="85909"/>
                        <a14:backgroundMark x1="84528" y1="12424" x2="13811" y2="85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392135"/>
            <a:ext cx="9466645" cy="4892414"/>
          </a:xfrm>
          <a:prstGeom prst="rect">
            <a:avLst/>
          </a:prstGeom>
        </p:spPr>
      </p:pic>
      <p:sp>
        <p:nvSpPr>
          <p:cNvPr id="90" name="Elipse 5"/>
          <p:cNvSpPr/>
          <p:nvPr userDrawn="1"/>
        </p:nvSpPr>
        <p:spPr bwMode="auto">
          <a:xfrm>
            <a:off x="924190" y="6227361"/>
            <a:ext cx="8939065" cy="1691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softEdge rad="38100"/>
          </a:effectLst>
        </p:spPr>
        <p:txBody>
          <a:bodyPr vert="horz" wrap="square" lIns="91440" tIns="45721" rIns="91440" bIns="45721" numCol="1" rtlCol="0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_tradnl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1161142" y="1746404"/>
            <a:ext cx="2307771" cy="408289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241425" y="1854507"/>
            <a:ext cx="2159000" cy="3822393"/>
          </a:xfrm>
          <a:prstGeom prst="roundRect">
            <a:avLst>
              <a:gd name="adj" fmla="val 431"/>
            </a:avLst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89" name="Pictur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8100" y1="5979" x2="97938" y2="5979"/>
                        <a14:foregroundMark x1="5155" y1="93871" x2="99558" y2="95665"/>
                        <a14:foregroundMark x1="9867" y1="93572" x2="0" y2="87145"/>
                        <a14:foregroundMark x1="2946" y1="82810" x2="4124" y2="10912"/>
                        <a14:foregroundMark x1="96760" y1="10613" x2="97938" y2="92152"/>
                        <a14:foregroundMark x1="12371" y1="97534" x2="6775" y2="99701"/>
                        <a14:foregroundMark x1="6038" y1="8819" x2="295" y2="8595"/>
                        <a14:foregroundMark x1="94404" y1="7848" x2="99705" y2="4783"/>
                        <a14:foregroundMark x1="86745" y1="4559" x2="92931" y2="149"/>
                        <a14:backgroundMark x1="38586" y1="11211" x2="73638" y2="83109"/>
                        <a14:backgroundMark x1="17231" y1="15919" x2="44919" y2="80194"/>
                        <a14:backgroundMark x1="63034" y1="20703" x2="67894" y2="417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44" y="1280834"/>
            <a:ext cx="2521688" cy="50316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24417" y="332657"/>
            <a:ext cx="10972800" cy="5760639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06B73-6758-4661-AA3F-5CA7417023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DC86A-C522-4984-9BC5-396685BB8F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0560051" y="6381754"/>
            <a:ext cx="1488016" cy="476249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B903D1D3-8D64-4C93-8E8F-A0D59C1A2EA7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1800" y="6409269"/>
            <a:ext cx="3860800" cy="476251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EA5703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www.PKU-HIT.com</a:t>
            </a:r>
            <a:endParaRPr lang="en-US" altLang="zh-CN"/>
          </a:p>
        </p:txBody>
      </p:sp>
    </p:spTree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宋体" pitchFamily="2" charset="-122"/>
              </a:defRPr>
            </a:lvl1pPr>
          </a:lstStyle>
          <a:p>
            <a:pPr>
              <a:defRPr/>
            </a:pPr>
            <a:fld id="{53F8BF61-858F-4C9E-AC85-7D6C0F2EE0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8949" y="2192642"/>
            <a:ext cx="10240454" cy="914096"/>
          </a:xfrm>
        </p:spPr>
        <p:txBody>
          <a:bodyPr anchor="b" anchorCtr="0"/>
          <a:lstStyle>
            <a:lvl1pPr>
              <a:defRPr sz="6600" spc="-150" baseline="0"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Click to edit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78949" y="3425825"/>
            <a:ext cx="10240454" cy="4985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pc="-70" baseline="0">
                <a:solidFill>
                  <a:schemeClr val="tx2">
                    <a:lumMod val="40000"/>
                    <a:lumOff val="60000"/>
                    <a:alpha val="99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讲师头衔</a:t>
            </a:r>
            <a:endParaRPr lang="en-US" dirty="0"/>
          </a:p>
        </p:txBody>
      </p:sp>
      <p:sp>
        <p:nvSpPr>
          <p:cNvPr id="452" name="Rectangle 451"/>
          <p:cNvSpPr/>
          <p:nvPr userDrawn="1"/>
        </p:nvSpPr>
        <p:spPr bwMode="auto">
          <a:xfrm>
            <a:off x="9850543" y="-160540"/>
            <a:ext cx="1829276" cy="1828800"/>
          </a:xfrm>
          <a:prstGeom prst="rect">
            <a:avLst/>
          </a:prstGeom>
          <a:noFill/>
          <a:ln w="28575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3" name="Rectangle 452"/>
          <p:cNvSpPr/>
          <p:nvPr userDrawn="1"/>
        </p:nvSpPr>
        <p:spPr bwMode="auto">
          <a:xfrm>
            <a:off x="9264933" y="1298576"/>
            <a:ext cx="1171221" cy="1170916"/>
          </a:xfrm>
          <a:prstGeom prst="rect">
            <a:avLst/>
          </a:prstGeom>
          <a:noFill/>
          <a:ln w="57150">
            <a:solidFill>
              <a:schemeClr val="tx1">
                <a:alpha val="2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4" name="Rectangle 453"/>
          <p:cNvSpPr/>
          <p:nvPr userDrawn="1"/>
        </p:nvSpPr>
        <p:spPr bwMode="auto">
          <a:xfrm>
            <a:off x="9264933" y="-160540"/>
            <a:ext cx="875238" cy="875010"/>
          </a:xfrm>
          <a:prstGeom prst="rect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5" name="Rectangle 454"/>
          <p:cNvSpPr/>
          <p:nvPr userDrawn="1"/>
        </p:nvSpPr>
        <p:spPr bwMode="auto">
          <a:xfrm>
            <a:off x="8221248" y="1423060"/>
            <a:ext cx="665605" cy="665432"/>
          </a:xfrm>
          <a:prstGeom prst="rect">
            <a:avLst/>
          </a:prstGeom>
          <a:noFill/>
          <a:ln w="2857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6" name="Rectangle 455"/>
          <p:cNvSpPr/>
          <p:nvPr userDrawn="1"/>
        </p:nvSpPr>
        <p:spPr bwMode="auto">
          <a:xfrm>
            <a:off x="9264933" y="5753556"/>
            <a:ext cx="1171221" cy="1170916"/>
          </a:xfrm>
          <a:prstGeom prst="rect">
            <a:avLst/>
          </a:prstGeom>
          <a:noFill/>
          <a:ln w="762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7" name="Rectangle 456"/>
          <p:cNvSpPr/>
          <p:nvPr userDrawn="1"/>
        </p:nvSpPr>
        <p:spPr bwMode="auto">
          <a:xfrm>
            <a:off x="10530564" y="5081417"/>
            <a:ext cx="774114" cy="773912"/>
          </a:xfrm>
          <a:prstGeom prst="rect">
            <a:avLst/>
          </a:prstGeom>
          <a:noFill/>
          <a:ln w="190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8" name="Rectangle 457"/>
          <p:cNvSpPr/>
          <p:nvPr userDrawn="1"/>
        </p:nvSpPr>
        <p:spPr bwMode="auto">
          <a:xfrm>
            <a:off x="11219403" y="5610291"/>
            <a:ext cx="316794" cy="316712"/>
          </a:xfrm>
          <a:prstGeom prst="rect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9" name="Rectangle 458"/>
          <p:cNvSpPr/>
          <p:nvPr userDrawn="1"/>
        </p:nvSpPr>
        <p:spPr bwMode="auto">
          <a:xfrm>
            <a:off x="10625650" y="6339014"/>
            <a:ext cx="2361901" cy="2361286"/>
          </a:xfrm>
          <a:prstGeom prst="rect">
            <a:avLst/>
          </a:prstGeom>
          <a:noFill/>
          <a:ln w="571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0" name="Rectangle 459"/>
          <p:cNvSpPr/>
          <p:nvPr userDrawn="1"/>
        </p:nvSpPr>
        <p:spPr bwMode="auto">
          <a:xfrm>
            <a:off x="682125" y="442110"/>
            <a:ext cx="1255901" cy="1255574"/>
          </a:xfrm>
          <a:prstGeom prst="rect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1" name="Rectangle 460"/>
          <p:cNvSpPr/>
          <p:nvPr userDrawn="1"/>
        </p:nvSpPr>
        <p:spPr bwMode="auto">
          <a:xfrm>
            <a:off x="1866928" y="-160540"/>
            <a:ext cx="513324" cy="513190"/>
          </a:xfrm>
          <a:prstGeom prst="rect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2" name="Rectangle 461"/>
          <p:cNvSpPr/>
          <p:nvPr userDrawn="1"/>
        </p:nvSpPr>
        <p:spPr bwMode="auto">
          <a:xfrm>
            <a:off x="11752926" y="1234418"/>
            <a:ext cx="244538" cy="244474"/>
          </a:xfrm>
          <a:prstGeom prst="rect">
            <a:avLst/>
          </a:prstGeom>
          <a:noFill/>
          <a:ln w="190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3" name="Rectangle 462"/>
          <p:cNvSpPr/>
          <p:nvPr userDrawn="1"/>
        </p:nvSpPr>
        <p:spPr bwMode="auto">
          <a:xfrm>
            <a:off x="5826072" y="1918422"/>
            <a:ext cx="875238" cy="875010"/>
          </a:xfrm>
          <a:prstGeom prst="rect">
            <a:avLst/>
          </a:prstGeom>
          <a:noFill/>
          <a:ln w="952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4" name="Rectangle 463"/>
          <p:cNvSpPr/>
          <p:nvPr userDrawn="1"/>
        </p:nvSpPr>
        <p:spPr bwMode="auto">
          <a:xfrm>
            <a:off x="4974747" y="5410281"/>
            <a:ext cx="603561" cy="603404"/>
          </a:xfrm>
          <a:prstGeom prst="rect">
            <a:avLst/>
          </a:prstGeom>
          <a:noFill/>
          <a:ln w="381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5" name="Rectangle 464"/>
          <p:cNvSpPr/>
          <p:nvPr userDrawn="1"/>
        </p:nvSpPr>
        <p:spPr bwMode="auto">
          <a:xfrm>
            <a:off x="5630899" y="4681875"/>
            <a:ext cx="1030376" cy="1030108"/>
          </a:xfrm>
          <a:prstGeom prst="rect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9248" y="2971952"/>
            <a:ext cx="11151917" cy="914096"/>
          </a:xfrm>
        </p:spPr>
        <p:txBody>
          <a:bodyPr anchor="ctr" anchorCtr="0"/>
          <a:lstStyle>
            <a:lvl1pPr>
              <a:defRPr sz="6600" spc="-300" baseline="0"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Click to edit title style</a:t>
            </a:r>
            <a:endParaRPr lang="en-US" dirty="0"/>
          </a:p>
        </p:txBody>
      </p:sp>
      <p:sp>
        <p:nvSpPr>
          <p:cNvPr id="3" name="Oval 2"/>
          <p:cNvSpPr/>
          <p:nvPr userDrawn="1"/>
        </p:nvSpPr>
        <p:spPr bwMode="auto">
          <a:xfrm>
            <a:off x="10205079" y="-383422"/>
            <a:ext cx="1829276" cy="1828800"/>
          </a:xfrm>
          <a:prstGeom prst="ellipse">
            <a:avLst/>
          </a:prstGeom>
          <a:noFill/>
          <a:ln w="28575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Oval 3"/>
          <p:cNvSpPr/>
          <p:nvPr userDrawn="1"/>
        </p:nvSpPr>
        <p:spPr bwMode="auto">
          <a:xfrm>
            <a:off x="9619468" y="1075694"/>
            <a:ext cx="1171221" cy="1170916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Oval 4"/>
          <p:cNvSpPr/>
          <p:nvPr userDrawn="1"/>
        </p:nvSpPr>
        <p:spPr bwMode="auto">
          <a:xfrm>
            <a:off x="9619468" y="-383422"/>
            <a:ext cx="875238" cy="875010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/>
          <p:cNvSpPr/>
          <p:nvPr userDrawn="1"/>
        </p:nvSpPr>
        <p:spPr bwMode="auto">
          <a:xfrm>
            <a:off x="8575783" y="1200178"/>
            <a:ext cx="665605" cy="665432"/>
          </a:xfrm>
          <a:prstGeom prst="ellipse">
            <a:avLst/>
          </a:prstGeom>
          <a:noFill/>
          <a:ln w="2857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/>
          <p:cNvSpPr/>
          <p:nvPr userDrawn="1"/>
        </p:nvSpPr>
        <p:spPr bwMode="auto">
          <a:xfrm>
            <a:off x="9492687" y="5499901"/>
            <a:ext cx="1171221" cy="1170916"/>
          </a:xfrm>
          <a:prstGeom prst="ellipse">
            <a:avLst/>
          </a:prstGeom>
          <a:noFill/>
          <a:ln w="762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/>
          <p:cNvSpPr/>
          <p:nvPr userDrawn="1"/>
        </p:nvSpPr>
        <p:spPr bwMode="auto">
          <a:xfrm>
            <a:off x="10758318" y="4827762"/>
            <a:ext cx="774114" cy="773912"/>
          </a:xfrm>
          <a:prstGeom prst="ellipse">
            <a:avLst/>
          </a:prstGeom>
          <a:noFill/>
          <a:ln w="190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/>
          <p:cNvSpPr/>
          <p:nvPr userDrawn="1"/>
        </p:nvSpPr>
        <p:spPr bwMode="auto">
          <a:xfrm>
            <a:off x="11447157" y="5356636"/>
            <a:ext cx="316794" cy="316712"/>
          </a:xfrm>
          <a:prstGeom prst="ellipse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/>
          <p:cNvSpPr/>
          <p:nvPr userDrawn="1"/>
        </p:nvSpPr>
        <p:spPr bwMode="auto">
          <a:xfrm>
            <a:off x="10853404" y="6085359"/>
            <a:ext cx="2361901" cy="2361286"/>
          </a:xfrm>
          <a:prstGeom prst="ellipse">
            <a:avLst/>
          </a:prstGeom>
          <a:noFill/>
          <a:ln w="571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/>
          <p:cNvSpPr/>
          <p:nvPr userDrawn="1"/>
        </p:nvSpPr>
        <p:spPr bwMode="auto">
          <a:xfrm>
            <a:off x="1503860" y="1115602"/>
            <a:ext cx="1255901" cy="1255574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/>
          <p:cNvSpPr/>
          <p:nvPr userDrawn="1"/>
        </p:nvSpPr>
        <p:spPr bwMode="auto">
          <a:xfrm>
            <a:off x="2688663" y="512952"/>
            <a:ext cx="513324" cy="513190"/>
          </a:xfrm>
          <a:prstGeom prst="ellipse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/>
          <p:cNvSpPr/>
          <p:nvPr userDrawn="1"/>
        </p:nvSpPr>
        <p:spPr bwMode="auto">
          <a:xfrm>
            <a:off x="12107462" y="1011536"/>
            <a:ext cx="244538" cy="244474"/>
          </a:xfrm>
          <a:prstGeom prst="ellipse">
            <a:avLst/>
          </a:prstGeom>
          <a:noFill/>
          <a:ln w="190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Oval 13"/>
          <p:cNvSpPr/>
          <p:nvPr userDrawn="1"/>
        </p:nvSpPr>
        <p:spPr bwMode="auto">
          <a:xfrm>
            <a:off x="11159117" y="1879032"/>
            <a:ext cx="875238" cy="875010"/>
          </a:xfrm>
          <a:prstGeom prst="ellipse">
            <a:avLst/>
          </a:prstGeom>
          <a:noFill/>
          <a:ln w="9525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Oval 14"/>
          <p:cNvSpPr/>
          <p:nvPr userDrawn="1"/>
        </p:nvSpPr>
        <p:spPr bwMode="auto">
          <a:xfrm>
            <a:off x="4974747" y="5410281"/>
            <a:ext cx="603561" cy="603404"/>
          </a:xfrm>
          <a:prstGeom prst="ellipse">
            <a:avLst/>
          </a:prstGeom>
          <a:noFill/>
          <a:ln w="381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Oval 15"/>
          <p:cNvSpPr/>
          <p:nvPr userDrawn="1"/>
        </p:nvSpPr>
        <p:spPr bwMode="auto">
          <a:xfrm>
            <a:off x="5630899" y="4681875"/>
            <a:ext cx="1030376" cy="1030108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19250" y="1905002"/>
            <a:ext cx="11151916" cy="1585049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99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hidden">
          <a:xfrm flipV="1">
            <a:off x="1" y="0"/>
            <a:ext cx="12192000" cy="1155940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dirty="0" err="1">
              <a:solidFill>
                <a:schemeClr val="tx1">
                  <a:alpha val="99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Slide for Developer Code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8453" y="1447800"/>
            <a:ext cx="11155093" cy="518160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cs typeface="Consolas" pitchFamily="49" charset="0"/>
              </a:defRPr>
            </a:lvl1pPr>
            <a:lvl2pPr marL="339725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cs typeface="Consolas" pitchFamily="49" charset="0"/>
              </a:defRPr>
            </a:lvl2pPr>
            <a:lvl3pPr marL="573405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cs typeface="Consolas" pitchFamily="49" charset="0"/>
              </a:defRPr>
            </a:lvl3pPr>
            <a:lvl4pPr marL="79883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cs typeface="Consolas" pitchFamily="49" charset="0"/>
              </a:defRPr>
            </a:lvl4pPr>
            <a:lvl5pPr marL="1030605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cs typeface="Consolas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image" Target="../media/image10.jpeg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" r="351" b="162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10997"/>
            <a:ext cx="10858500" cy="8258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253330"/>
            <a:ext cx="10858500" cy="4880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636774"/>
            <a:ext cx="27432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EA80E99-CFCF-43B0-B784-147975B12AB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636774"/>
            <a:ext cx="41148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636774"/>
            <a:ext cx="27432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2" r="4751"/>
          <a:stretch>
            <a:fillRect/>
          </a:stretch>
        </p:blipFill>
        <p:spPr>
          <a:xfrm>
            <a:off x="1390" y="0"/>
            <a:ext cx="12190610" cy="6858000"/>
          </a:xfrm>
          <a:prstGeom prst="rect">
            <a:avLst/>
          </a:prstGeom>
        </p:spPr>
      </p:pic>
      <p:sp>
        <p:nvSpPr>
          <p:cNvPr id="90" name="任意多边形: 形状 89"/>
          <p:cNvSpPr/>
          <p:nvPr/>
        </p:nvSpPr>
        <p:spPr>
          <a:xfrm>
            <a:off x="0" y="0"/>
            <a:ext cx="12192000" cy="4702278"/>
          </a:xfrm>
          <a:custGeom>
            <a:avLst/>
            <a:gdLst>
              <a:gd name="connsiteX0" fmla="*/ 0 w 12192000"/>
              <a:gd name="connsiteY0" fmla="*/ 0 h 4702278"/>
              <a:gd name="connsiteX1" fmla="*/ 12192000 w 12192000"/>
              <a:gd name="connsiteY1" fmla="*/ 0 h 4702278"/>
              <a:gd name="connsiteX2" fmla="*/ 12192000 w 12192000"/>
              <a:gd name="connsiteY2" fmla="*/ 3709741 h 4702278"/>
              <a:gd name="connsiteX3" fmla="*/ 11983047 w 12192000"/>
              <a:gd name="connsiteY3" fmla="*/ 3783772 h 4702278"/>
              <a:gd name="connsiteX4" fmla="*/ 6096001 w 12192000"/>
              <a:gd name="connsiteY4" fmla="*/ 4702278 h 4702278"/>
              <a:gd name="connsiteX5" fmla="*/ 208955 w 12192000"/>
              <a:gd name="connsiteY5" fmla="*/ 3783772 h 4702278"/>
              <a:gd name="connsiteX6" fmla="*/ 0 w 12192000"/>
              <a:gd name="connsiteY6" fmla="*/ 3709741 h 4702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702278">
                <a:moveTo>
                  <a:pt x="0" y="0"/>
                </a:moveTo>
                <a:lnTo>
                  <a:pt x="12192000" y="0"/>
                </a:lnTo>
                <a:lnTo>
                  <a:pt x="12192000" y="3709741"/>
                </a:lnTo>
                <a:lnTo>
                  <a:pt x="11983047" y="3783772"/>
                </a:lnTo>
                <a:cubicBezTo>
                  <a:pt x="10233045" y="4369545"/>
                  <a:pt x="8227585" y="4702278"/>
                  <a:pt x="6096001" y="4702278"/>
                </a:cubicBezTo>
                <a:cubicBezTo>
                  <a:pt x="3964418" y="4702278"/>
                  <a:pt x="1958957" y="4369545"/>
                  <a:pt x="208955" y="3783772"/>
                </a:cubicBezTo>
                <a:lnTo>
                  <a:pt x="0" y="3709741"/>
                </a:lnTo>
                <a:close/>
              </a:path>
            </a:pathLst>
          </a:custGeom>
          <a:solidFill>
            <a:schemeClr val="bg1">
              <a:alpha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-6254634" y="-10518058"/>
            <a:ext cx="24701269" cy="15220335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92206" y="2118218"/>
            <a:ext cx="8807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1"/>
                </a:solidFill>
              </a:rPr>
              <a:t>医院信息系统实验课</a:t>
            </a:r>
            <a:endParaRPr lang="zh-CN" altLang="en-US" sz="4800" b="1" dirty="0">
              <a:solidFill>
                <a:schemeClr val="accent1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520147" y="1212358"/>
            <a:ext cx="3151707" cy="835719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96" name="文本框 95"/>
          <p:cNvSpPr txBox="1"/>
          <p:nvPr/>
        </p:nvSpPr>
        <p:spPr>
          <a:xfrm>
            <a:off x="4006822" y="2953476"/>
            <a:ext cx="4119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医学信息学系</a:t>
            </a:r>
            <a:endParaRPr lang="en-US" altLang="zh-CN" sz="2000" b="1" dirty="0">
              <a:solidFill>
                <a:schemeClr val="accent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等线" panose="02010600030101010101" pitchFamily="2" charset="-122"/>
                <a:ea typeface="等线" panose="02010600030101010101" pitchFamily="2" charset="-122"/>
                <a:sym typeface="等线" panose="02010600030101010101" pitchFamily="2" charset="-122"/>
              </a:rPr>
              <a:t>第一附属</a:t>
            </a:r>
            <a:r>
              <a:rPr lang="zh-CN" altLang="en-US" sz="2000" b="1" dirty="0" smtClean="0">
                <a:solidFill>
                  <a:schemeClr val="accent1"/>
                </a:solidFill>
                <a:latin typeface="等线" panose="02010600030101010101" pitchFamily="2" charset="-122"/>
                <a:ea typeface="等线" panose="02010600030101010101" pitchFamily="2" charset="-122"/>
                <a:sym typeface="等线" panose="02010600030101010101" pitchFamily="2" charset="-122"/>
              </a:rPr>
              <a:t>医院</a:t>
            </a:r>
            <a:endParaRPr lang="en-US" altLang="zh-CN" sz="2000" b="1" dirty="0">
              <a:solidFill>
                <a:schemeClr val="accent1"/>
              </a:solidFill>
              <a:latin typeface="等线" panose="02010600030101010101" pitchFamily="2" charset="-122"/>
              <a:ea typeface="等线" panose="02010600030101010101" pitchFamily="2" charset="-122"/>
              <a:sym typeface="等线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accent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丁海龙</a:t>
            </a:r>
            <a:endParaRPr lang="en-US" altLang="zh-CN" sz="2000" b="1" dirty="0" smtClean="0">
              <a:solidFill>
                <a:schemeClr val="accent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4" name="文本框 95"/>
          <p:cNvSpPr txBox="1"/>
          <p:nvPr/>
        </p:nvSpPr>
        <p:spPr>
          <a:xfrm>
            <a:off x="4065438" y="4254730"/>
            <a:ext cx="411903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456087"/>
                </a:solidFill>
                <a:latin typeface="+mj-lt"/>
                <a:ea typeface="等线" panose="02010600030101010101" pitchFamily="2" charset="-122"/>
              </a:rPr>
              <a:t>2025-04-17</a:t>
            </a:r>
            <a:endParaRPr lang="en-US" altLang="zh-CN" sz="1600" b="1" dirty="0" smtClean="0">
              <a:solidFill>
                <a:srgbClr val="456087"/>
              </a:solidFill>
              <a:latin typeface="+mj-lt"/>
              <a:ea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13"/>
          <p:cNvSpPr txBox="1"/>
          <p:nvPr/>
        </p:nvSpPr>
        <p:spPr>
          <a:xfrm>
            <a:off x="1563478" y="3112588"/>
            <a:ext cx="5761996" cy="8402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dirty="0" smtClean="0"/>
              <a:t>第一次</a:t>
            </a:r>
            <a:r>
              <a:rPr lang="zh-CN" altLang="en-US" sz="5400" dirty="0" smtClean="0"/>
              <a:t>实验要求</a:t>
            </a:r>
            <a:endParaRPr lang="zh-CN" altLang="en-US" sz="5400" dirty="0"/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11314" y="1342054"/>
            <a:ext cx="9412000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、新建用户（医生）表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、掌握</a:t>
            </a:r>
            <a:r>
              <a:rPr lang="en-US" altLang="zh-CN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SpringBoot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框架，了解各个层级的作用，能制作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restful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接口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、掌握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Vue.js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，能参照官方文档使用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element </a:t>
            </a:r>
            <a:r>
              <a:rPr lang="en-US" altLang="zh-CN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ui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组件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、使用</a:t>
            </a:r>
            <a:r>
              <a:rPr lang="en-US" altLang="zh-CN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vue+element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ui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完成系统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登录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页面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、后端验证用户，并维护用户验证信息，掌握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 Token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开发流程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前端接收用户信息，并展示</a:t>
            </a:r>
            <a:endParaRPr lang="en-US" altLang="zh-CN" sz="24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课堂</a:t>
            </a:r>
            <a:r>
              <a:rPr lang="zh-CN" altLang="en-US" dirty="0"/>
              <a:t>任务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1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1613180" y="3359504"/>
            <a:ext cx="3799329" cy="7215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用户（医生）表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en-US" altLang="zh-CN" dirty="0" smtClean="0"/>
              <a:t>.1 </a:t>
            </a:r>
            <a:r>
              <a:rPr lang="zh-CN" altLang="en-US" dirty="0" smtClean="0"/>
              <a:t>数据库表结构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14020" y="1882140"/>
            <a:ext cx="10858500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n-ea"/>
              </a:rPr>
              <a:t>DROP TABLE IF EXISTS `tb_user`;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CREATE TABLE `tb_user`  (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`user_id` int(11) NOT NULL AUTO_INCREMENT,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`user_name` varchar(255) CHARACTER SET utf8 COLLATE utf8_general_ci NOT NULL,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`password` varchar(255) CHARACTER SET utf8 COLLATE utf8_general_ci NOT NULL,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`email` varchar(255) CHARACTER SET utf8 COLLATE utf8_general_ci NOT NULL,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`doctype` varchar(50) CHARACTER SET utf8 COLLATE utf8_general_ci NULL DEFAULT NULL,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PRIMARY KEY (`user_id`) USING BTREE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) ENGINE = MyISAM AUTO_INCREMENT = 7 CHARACTER SET = utf8 ;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-- ----------------------------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-- Records of tb_user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-- ----------------------------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INSERT INTO `tb_user` VALUES (1, '</a:t>
            </a:r>
            <a:r>
              <a:rPr lang="zh-CN" altLang="en-US" sz="1400" b="1" dirty="0">
                <a:latin typeface="+mn-ea"/>
              </a:rPr>
              <a:t>张伟</a:t>
            </a:r>
            <a:r>
              <a:rPr lang="en-US" altLang="zh-CN" sz="1400" b="1" dirty="0">
                <a:latin typeface="+mn-ea"/>
              </a:rPr>
              <a:t>', '123', 'zhang.wei@example.com', '</a:t>
            </a:r>
            <a:r>
              <a:rPr lang="zh-CN" altLang="en-US" sz="1400" b="1" dirty="0">
                <a:latin typeface="+mn-ea"/>
              </a:rPr>
              <a:t>普通</a:t>
            </a:r>
            <a:r>
              <a:rPr lang="en-US" altLang="zh-CN" sz="1400" b="1" dirty="0">
                <a:latin typeface="+mn-ea"/>
              </a:rPr>
              <a:t>');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INSERT INTO `tb_user` VALUES (2, '</a:t>
            </a:r>
            <a:r>
              <a:rPr lang="zh-CN" altLang="en-US" sz="1400" b="1" dirty="0">
                <a:latin typeface="+mn-ea"/>
              </a:rPr>
              <a:t>李娜</a:t>
            </a:r>
            <a:r>
              <a:rPr lang="en-US" altLang="zh-CN" sz="1400" b="1" dirty="0">
                <a:latin typeface="+mn-ea"/>
              </a:rPr>
              <a:t>', '123', 'li.na@example.com', '</a:t>
            </a:r>
            <a:r>
              <a:rPr lang="zh-CN" altLang="en-US" sz="1400" b="1" dirty="0">
                <a:latin typeface="+mn-ea"/>
              </a:rPr>
              <a:t>普通</a:t>
            </a:r>
            <a:r>
              <a:rPr lang="en-US" altLang="zh-CN" sz="1400" b="1" dirty="0">
                <a:latin typeface="+mn-ea"/>
              </a:rPr>
              <a:t>');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INSERT INTO `tb_user` VALUES (3, '</a:t>
            </a:r>
            <a:r>
              <a:rPr lang="zh-CN" altLang="en-US" sz="1400" b="1" dirty="0">
                <a:latin typeface="+mn-ea"/>
              </a:rPr>
              <a:t>王磊</a:t>
            </a:r>
            <a:r>
              <a:rPr lang="en-US" altLang="zh-CN" sz="1400" b="1" dirty="0">
                <a:latin typeface="+mn-ea"/>
              </a:rPr>
              <a:t>', 'Qwerty!2024', 'wang.lei@example.org', '</a:t>
            </a:r>
            <a:r>
              <a:rPr lang="zh-CN" altLang="en-US" sz="1400" b="1" dirty="0">
                <a:latin typeface="+mn-ea"/>
              </a:rPr>
              <a:t>专家</a:t>
            </a:r>
            <a:r>
              <a:rPr lang="en-US" altLang="zh-CN" sz="1400" b="1" dirty="0">
                <a:latin typeface="+mn-ea"/>
              </a:rPr>
              <a:t>');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INSERT INTO `tb_user` VALUES (4, '</a:t>
            </a:r>
            <a:r>
              <a:rPr lang="zh-CN" altLang="en-US" sz="1400" b="1" dirty="0">
                <a:latin typeface="+mn-ea"/>
              </a:rPr>
              <a:t>刘涛</a:t>
            </a:r>
            <a:r>
              <a:rPr lang="en-US" altLang="zh-CN" sz="1400" b="1" dirty="0">
                <a:latin typeface="+mn-ea"/>
              </a:rPr>
              <a:t>', 'Welcome#45', 'liu.tao@company.com', '</a:t>
            </a:r>
            <a:r>
              <a:rPr lang="zh-CN" altLang="en-US" sz="1400" b="1" dirty="0">
                <a:latin typeface="+mn-ea"/>
              </a:rPr>
              <a:t>专家</a:t>
            </a:r>
            <a:r>
              <a:rPr lang="en-US" altLang="zh-CN" sz="1400" b="1" dirty="0">
                <a:latin typeface="+mn-ea"/>
              </a:rPr>
              <a:t>');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INSERT INTO `tb_user` VALUES (5, '</a:t>
            </a:r>
            <a:r>
              <a:rPr lang="zh-CN" altLang="en-US" sz="1400" b="1" dirty="0">
                <a:latin typeface="+mn-ea"/>
              </a:rPr>
              <a:t>陈晨</a:t>
            </a:r>
            <a:r>
              <a:rPr lang="en-US" altLang="zh-CN" sz="1400" b="1" dirty="0">
                <a:latin typeface="+mn-ea"/>
              </a:rPr>
              <a:t>', 'Mys3cureP@ss', 'chen.chen123@gmail.com', '</a:t>
            </a:r>
            <a:r>
              <a:rPr lang="zh-CN" altLang="en-US" sz="1400" b="1" dirty="0">
                <a:latin typeface="+mn-ea"/>
              </a:rPr>
              <a:t>专家</a:t>
            </a:r>
            <a:r>
              <a:rPr lang="en-US" altLang="zh-CN" sz="1400" b="1" dirty="0">
                <a:latin typeface="+mn-ea"/>
              </a:rPr>
              <a:t>');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SET FOREIGN_KEY_CHECKS = 1;</a:t>
            </a:r>
            <a:endParaRPr lang="en-US" altLang="zh-CN" sz="1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altLang="zh-CN" dirty="0" smtClean="0">
                <a:latin typeface="Impact" panose="020B0806030902050204" pitchFamily="34" charset="0"/>
              </a:rPr>
              <a:t>2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1613180" y="3359504"/>
            <a:ext cx="3799329" cy="7215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SpringBoot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/>
              <a:t>2.1 </a:t>
            </a:r>
            <a:r>
              <a:rPr lang="en-US" altLang="zh-CN" dirty="0" err="1"/>
              <a:t>springboot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03542" y="1076082"/>
            <a:ext cx="108313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springboot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是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一个脚手架 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用于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快速搭建一个基于Spring的web应用，开箱即用！创建即可开发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业务代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其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设计目的是用来简化 Spring 应用的初始搭建以及开发过程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632" y="2842915"/>
            <a:ext cx="3806968" cy="36011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531" y="2426268"/>
            <a:ext cx="5346481" cy="40178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2.2 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安装</a:t>
            </a:r>
            <a:r>
              <a:rPr lang="en-US" altLang="zh-CN" dirty="0" smtClean="0"/>
              <a:t>Spring Tools</a:t>
            </a:r>
            <a:r>
              <a:rPr lang="zh-CN" altLang="en-US" dirty="0" smtClean="0"/>
              <a:t>插件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95150" y="172672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Spring Boot 开发推荐安装 Spring Tools (Spring Tool Suite) 插件：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打开 Eclipse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点击菜单栏：Help &gt; Eclipse Marketplace...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在搜索框输入：Spring Tools 或 Spring Tool Suite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找到插件（通常叫 Spring Tools 4 (aka Spring Tool Suite 4)），点击 Install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安装后重启 Eclipse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2.2 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创建</a:t>
            </a:r>
            <a:r>
              <a:rPr lang="en-US" altLang="zh-CN" dirty="0" err="1" smtClean="0"/>
              <a:t>springboot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0049" y="1371405"/>
            <a:ext cx="7062787" cy="4161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35900" y="5533179"/>
            <a:ext cx="1107996" cy="406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项目结构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7997" y="5438866"/>
            <a:ext cx="3140603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使用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pom.xml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管理项目依赖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42" y="1289505"/>
            <a:ext cx="3761512" cy="393593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98897" y="1371405"/>
            <a:ext cx="3137836" cy="59214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98897" y="3081898"/>
            <a:ext cx="3137836" cy="6719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2.2 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创建</a:t>
            </a:r>
            <a:r>
              <a:rPr lang="en-US" altLang="zh-CN" dirty="0" err="1" smtClean="0"/>
              <a:t>springboot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60400" y="2321719"/>
          <a:ext cx="10858500" cy="274320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  <a:gridCol w="21717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Spring Boot 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最低支持 </a:t>
                      </a:r>
                      <a:r>
                        <a:rPr lang="en-US"/>
                        <a:t>JDK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推荐 </a:t>
                      </a:r>
                      <a:r>
                        <a:rPr lang="en-US"/>
                        <a:t>JDK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最高支持 </a:t>
                      </a:r>
                      <a:r>
                        <a:rPr lang="en-US"/>
                        <a:t>JDK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Spring Boot 2.x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JDK 8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JDK 8~17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JDK 17/21*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对 </a:t>
                      </a:r>
                      <a:r>
                        <a:rPr lang="en-US" altLang="zh-CN"/>
                        <a:t>Java 8~17 </a:t>
                      </a:r>
                      <a:r>
                        <a:rPr lang="zh-CN" altLang="en-US"/>
                        <a:t>兼容性较好，但部分依赖在 </a:t>
                      </a:r>
                      <a:r>
                        <a:rPr lang="en-US" altLang="zh-CN"/>
                        <a:t>JDK 17 </a:t>
                      </a:r>
                      <a:r>
                        <a:rPr lang="zh-CN" altLang="en-US"/>
                        <a:t>以上可能报错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Spring Boot 3.x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JDK 17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JDK 17+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JDK 21+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必须使用 </a:t>
                      </a:r>
                      <a:r>
                        <a:rPr lang="en-US" b="1" dirty="0"/>
                        <a:t>JDK 17 </a:t>
                      </a:r>
                      <a:r>
                        <a:rPr lang="zh-CN" altLang="en-US" b="1" dirty="0"/>
                        <a:t>及以上</a:t>
                      </a:r>
                      <a:r>
                        <a:rPr lang="zh-CN" altLang="en-US" dirty="0"/>
                        <a:t>，基于 </a:t>
                      </a:r>
                      <a:r>
                        <a:rPr lang="en-US" dirty="0"/>
                        <a:t>Jakarta EE 10，</a:t>
                      </a:r>
                      <a:r>
                        <a:rPr lang="zh-CN" altLang="en-US" dirty="0"/>
                        <a:t>升级成本高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dirty="0">
                <a:latin typeface="Impact" panose="020B0806030902050204" pitchFamily="34" charset="0"/>
              </a:rPr>
              <a:t>3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2788449" y="3429000"/>
            <a:ext cx="3799329" cy="7215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Vue.js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3.1 </a:t>
            </a:r>
            <a:r>
              <a:rPr lang="en-US" altLang="zh-CN" dirty="0" err="1" smtClean="0"/>
              <a:t>Vue</a:t>
            </a:r>
            <a:r>
              <a:rPr lang="zh-CN" altLang="en-US" dirty="0" smtClean="0"/>
              <a:t>与组件库</a:t>
            </a:r>
            <a:r>
              <a:rPr lang="en-US" altLang="zh-CN" dirty="0" smtClean="0"/>
              <a:t>Element UI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22" y="1219867"/>
            <a:ext cx="5235515" cy="52878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04937" y="121986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Element UI</a:t>
            </a:r>
            <a:r>
              <a:rPr lang="zh-CN" altLang="en-US" dirty="0"/>
              <a:t> 是一个基于 </a:t>
            </a:r>
            <a:r>
              <a:rPr lang="en-US" altLang="zh-CN" b="1" dirty="0"/>
              <a:t>Vue.js</a:t>
            </a:r>
            <a:r>
              <a:rPr lang="zh-CN" altLang="en-US" dirty="0"/>
              <a:t> </a:t>
            </a:r>
            <a:r>
              <a:rPr lang="zh-CN" altLang="en-US" dirty="0" smtClean="0"/>
              <a:t>的</a:t>
            </a:r>
            <a:r>
              <a:rPr lang="en-US" altLang="zh-CN" b="1" dirty="0"/>
              <a:t>Web</a:t>
            </a:r>
            <a:r>
              <a:rPr lang="zh-CN" altLang="en-US" b="1" dirty="0" smtClean="0"/>
              <a:t>端</a:t>
            </a:r>
            <a:r>
              <a:rPr lang="zh-CN" altLang="en-US" b="1" dirty="0"/>
              <a:t>组件库</a:t>
            </a:r>
            <a:r>
              <a:rPr lang="zh-CN" altLang="en-US" dirty="0"/>
              <a:t>，由饿了么前端团队（</a:t>
            </a:r>
            <a:r>
              <a:rPr lang="en-US" altLang="zh-CN" dirty="0" err="1"/>
              <a:t>ElemeFE</a:t>
            </a:r>
            <a:r>
              <a:rPr lang="zh-CN" altLang="en-US" dirty="0"/>
              <a:t>）开发，专为构建现代化的后台管理界面而设计。它提供了大量高质量、即插即用的 </a:t>
            </a:r>
            <a:r>
              <a:rPr lang="en-US" altLang="zh-CN" dirty="0"/>
              <a:t>UI </a:t>
            </a:r>
            <a:r>
              <a:rPr lang="zh-CN" altLang="en-US" dirty="0"/>
              <a:t>组件，让开发效率飞升 🚀。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937" y="2563981"/>
            <a:ext cx="4664677" cy="3775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altLang="zh-CN" dirty="0" smtClean="0">
                <a:latin typeface="Impact" panose="020B0806030902050204" pitchFamily="34" charset="0"/>
              </a:rPr>
              <a:t>4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2272750" y="3439800"/>
            <a:ext cx="3799329" cy="7215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登录页面制作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医生登录页面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298" y="1512840"/>
            <a:ext cx="5231093" cy="4996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96000" y="1621766"/>
            <a:ext cx="2031325" cy="1823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涉及到的前端元素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Img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el-form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confont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功能完善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966" y="1630190"/>
            <a:ext cx="5353050" cy="4467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96000" y="1621766"/>
            <a:ext cx="33249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需要完善的功能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点击更改密码的显示与隐藏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添加合适的背景图片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 algn="l">
              <a:lnSpc>
                <a:spcPct val="125000"/>
              </a:lnSpc>
              <a:buFont typeface="Arial" panose="020B0604020202090204" pitchFamily="34" charset="0"/>
              <a:buChar char="•"/>
            </a:pP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altLang="zh-CN" dirty="0">
                <a:latin typeface="Impact" panose="020B0806030902050204" pitchFamily="34" charset="0"/>
              </a:rPr>
              <a:t>5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459617" y="3484737"/>
            <a:ext cx="6581037" cy="7848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后端用户验证，并维护验证信息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5.1 </a:t>
            </a:r>
            <a:r>
              <a:rPr lang="en-US" altLang="zh-CN" dirty="0" err="1" smtClean="0"/>
              <a:t>CrudRepository</a:t>
            </a:r>
            <a:r>
              <a:rPr lang="zh-CN" altLang="en-US" dirty="0" smtClean="0"/>
              <a:t>自动实现的数据库操作方法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27487" y="1738573"/>
          <a:ext cx="10858500" cy="4754880"/>
        </p:xfrm>
        <a:graphic>
          <a:graphicData uri="http://schemas.openxmlformats.org/drawingml/2006/table">
            <a:tbl>
              <a:tblPr/>
              <a:tblGrid>
                <a:gridCol w="4774241"/>
                <a:gridCol w="6084259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latin typeface="Times New Roman" panose="02020503050405090304" pitchFamily="18" charset="0"/>
                        </a:rPr>
                        <a:t>方法名</a:t>
                      </a:r>
                      <a:endParaRPr lang="zh-CN" altLang="en-US" b="1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latin typeface="Times New Roman" panose="02020503050405090304" pitchFamily="18" charset="0"/>
                        </a:rPr>
                        <a:t>说明</a:t>
                      </a:r>
                      <a:endParaRPr lang="zh-CN" altLang="en-US" b="1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Times New Roman" panose="02020503050405090304" pitchFamily="18" charset="0"/>
                        </a:rPr>
                        <a:t>S save(S entity)</a:t>
                      </a:r>
                      <a:endParaRPr lang="en-US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保存一个实体（有 </a:t>
                      </a:r>
                      <a:r>
                        <a:rPr lang="en-US" altLang="zh-CN" baseline="0">
                          <a:latin typeface="Times New Roman" panose="02020503050405090304" pitchFamily="18" charset="0"/>
                        </a:rPr>
                        <a:t>ID 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就更新，没有就新增）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Iterable&lt;S&gt; saveAll(Iterable&lt;S&gt; entities)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批量保存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Times New Roman" panose="02020503050405090304" pitchFamily="18" charset="0"/>
                        </a:rPr>
                        <a:t>Optional&lt;T&gt; </a:t>
                      </a:r>
                      <a:r>
                        <a:rPr lang="en-US" baseline="0" dirty="0" err="1">
                          <a:latin typeface="Times New Roman" panose="02020503050405090304" pitchFamily="18" charset="0"/>
                        </a:rPr>
                        <a:t>findById</a:t>
                      </a:r>
                      <a:r>
                        <a:rPr lang="en-US" baseline="0" dirty="0">
                          <a:latin typeface="Times New Roman" panose="02020503050405090304" pitchFamily="18" charset="0"/>
                        </a:rPr>
                        <a:t>(ID id)</a:t>
                      </a:r>
                      <a:endParaRPr lang="en-US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根据主键 </a:t>
                      </a:r>
                      <a:r>
                        <a:rPr lang="en-US" altLang="zh-CN" baseline="0">
                          <a:latin typeface="Times New Roman" panose="02020503050405090304" pitchFamily="18" charset="0"/>
                        </a:rPr>
                        <a:t>ID 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查找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 dirty="0" err="1">
                          <a:latin typeface="Times New Roman" panose="02020503050405090304" pitchFamily="18" charset="0"/>
                        </a:rPr>
                        <a:t>boolean</a:t>
                      </a:r>
                      <a:r>
                        <a:rPr lang="en-US" baseline="0" dirty="0">
                          <a:latin typeface="Times New Roman" panose="0202050305040509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503050405090304" pitchFamily="18" charset="0"/>
                        </a:rPr>
                        <a:t>existsById</a:t>
                      </a:r>
                      <a:r>
                        <a:rPr lang="en-US" baseline="0" dirty="0">
                          <a:latin typeface="Times New Roman" panose="02020503050405090304" pitchFamily="18" charset="0"/>
                        </a:rPr>
                        <a:t>(ID id)</a:t>
                      </a:r>
                      <a:endParaRPr lang="en-US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根据 </a:t>
                      </a:r>
                      <a:r>
                        <a:rPr lang="en-US" altLang="zh-CN" baseline="0">
                          <a:latin typeface="Times New Roman" panose="02020503050405090304" pitchFamily="18" charset="0"/>
                        </a:rPr>
                        <a:t>ID 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判断是否存在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Iterable&lt;T&gt; findAll()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 dirty="0">
                          <a:latin typeface="Times New Roman" panose="02020503050405090304" pitchFamily="18" charset="0"/>
                        </a:rPr>
                        <a:t>查找所有实体</a:t>
                      </a:r>
                      <a:endParaRPr lang="zh-CN" altLang="en-US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Iterable&lt;T&gt; findAllById(Iterable&lt;ID&gt; ids)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根据多个 </a:t>
                      </a:r>
                      <a:r>
                        <a:rPr lang="en-US" altLang="zh-CN" baseline="0">
                          <a:latin typeface="Times New Roman" panose="02020503050405090304" pitchFamily="18" charset="0"/>
                        </a:rPr>
                        <a:t>ID 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查询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long count()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返回记录总数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void deleteById(ID id)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根据 </a:t>
                      </a:r>
                      <a:r>
                        <a:rPr lang="en-US" baseline="0">
                          <a:latin typeface="Times New Roman" panose="02020503050405090304" pitchFamily="18" charset="0"/>
                        </a:rPr>
                        <a:t>ID 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删除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void delete(T entity)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删除指定实体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void deleteAllById(Iterable&lt;? extends ID&gt; ids)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批量删除（通过 </a:t>
                      </a:r>
                      <a:r>
                        <a:rPr lang="en-US" altLang="zh-CN" baseline="0">
                          <a:latin typeface="Times New Roman" panose="02020503050405090304" pitchFamily="18" charset="0"/>
                        </a:rPr>
                        <a:t>ID</a:t>
                      </a:r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）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void deleteAll(Iterable&lt;? extends T&gt; entities)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latin typeface="Times New Roman" panose="02020503050405090304" pitchFamily="18" charset="0"/>
                        </a:rPr>
                        <a:t>批量删除（通过实体）</a:t>
                      </a:r>
                      <a:endParaRPr lang="zh-CN" alt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aseline="0">
                          <a:latin typeface="Times New Roman" panose="02020503050405090304" pitchFamily="18" charset="0"/>
                        </a:rPr>
                        <a:t>void deleteAll()</a:t>
                      </a:r>
                      <a:endParaRPr lang="en-US" baseline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 dirty="0">
                          <a:latin typeface="Times New Roman" panose="02020503050405090304" pitchFamily="18" charset="0"/>
                        </a:rPr>
                        <a:t>删除所有记录</a:t>
                      </a:r>
                      <a:endParaRPr lang="zh-CN" altLang="en-US" baseline="0" dirty="0"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8570" y="1225746"/>
            <a:ext cx="37337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</a:rPr>
              <a:t>CrudRepository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中提供的方法如下 </a:t>
            </a:r>
            <a:endParaRPr kumimoji="0" lang="zh-CN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5176" y="1076083"/>
            <a:ext cx="8975858" cy="51953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en-US" altLang="zh-CN" dirty="0" smtClean="0"/>
              <a:t>.2 </a:t>
            </a:r>
            <a:r>
              <a:rPr lang="zh-CN" altLang="en-US" dirty="0" smtClean="0"/>
              <a:t>用户验证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70067" y="3721373"/>
            <a:ext cx="85746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A0A0A0"/>
                </a:solidFill>
                <a:latin typeface="Consolas" pitchFamily="49" charset="0"/>
              </a:rPr>
              <a:t>@Override</a:t>
            </a:r>
            <a:endParaRPr lang="en-US" altLang="zh-CN" dirty="0">
              <a:solidFill>
                <a:srgbClr val="D9E8F7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public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User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EB540"/>
                </a:solidFill>
                <a:latin typeface="Consolas" pitchFamily="49" charset="0"/>
              </a:rPr>
              <a:t>login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79ABFF"/>
                </a:solidFill>
                <a:latin typeface="Consolas" pitchFamily="49" charset="0"/>
              </a:rPr>
              <a:t>userName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,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79ABFF"/>
                </a:solidFill>
                <a:latin typeface="Consolas" pitchFamily="49" charset="0"/>
              </a:rPr>
              <a:t>password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User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F2F200"/>
                </a:solidFill>
                <a:latin typeface="Consolas" pitchFamily="49" charset="0"/>
              </a:rPr>
              <a:t>user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66E1F8"/>
                </a:solidFill>
                <a:latin typeface="Consolas" pitchFamily="49" charset="0"/>
              </a:rPr>
              <a:t>userRepository</a:t>
            </a:r>
            <a:r>
              <a:rPr lang="en-US" altLang="zh-CN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80F6A7"/>
                </a:solidFill>
                <a:latin typeface="Consolas" pitchFamily="49" charset="0"/>
              </a:rPr>
              <a:t>findByUserName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 err="1">
                <a:solidFill>
                  <a:srgbClr val="79ABFF"/>
                </a:solidFill>
                <a:latin typeface="Consolas" pitchFamily="49" charset="0"/>
              </a:rPr>
              <a:t>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if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F3EC79"/>
                </a:solidFill>
                <a:latin typeface="Consolas" pitchFamily="49" charset="0"/>
              </a:rPr>
              <a:t>user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null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||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!</a:t>
            </a:r>
            <a:r>
              <a:rPr lang="en-US" altLang="zh-CN" dirty="0" err="1">
                <a:solidFill>
                  <a:srgbClr val="F3EC79"/>
                </a:solidFill>
                <a:latin typeface="Consolas" pitchFamily="49" charset="0"/>
              </a:rPr>
              <a:t>user</a:t>
            </a:r>
            <a:r>
              <a:rPr lang="en-US" altLang="zh-CN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getPassword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>
                <a:solidFill>
                  <a:srgbClr val="A7EC21"/>
                </a:solidFill>
                <a:latin typeface="Consolas" pitchFamily="49" charset="0"/>
              </a:rPr>
              <a:t>equals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79ABFF"/>
                </a:solidFill>
                <a:latin typeface="Consolas" pitchFamily="49" charset="0"/>
              </a:rPr>
              <a:t>password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))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throw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new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IllegalArgumentException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17C6A3"/>
                </a:solidFill>
                <a:latin typeface="Consolas" pitchFamily="49" charset="0"/>
              </a:rPr>
              <a:t>"</a:t>
            </a:r>
            <a:r>
              <a:rPr lang="zh-CN" altLang="en-US" dirty="0">
                <a:solidFill>
                  <a:srgbClr val="17C6A3"/>
                </a:solidFill>
                <a:latin typeface="Consolas" pitchFamily="49" charset="0"/>
              </a:rPr>
              <a:t>用户名或密码错误！</a:t>
            </a:r>
            <a:r>
              <a:rPr lang="en-US" altLang="zh-CN" dirty="0">
                <a:solidFill>
                  <a:srgbClr val="17C6A3"/>
                </a:solidFill>
                <a:latin typeface="Consolas" pitchFamily="49" charset="0"/>
              </a:rPr>
              <a:t>"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zh-CN" altLang="en-US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zh-CN" altLang="en-US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return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3EC79"/>
                </a:solidFill>
                <a:latin typeface="Consolas" pitchFamily="49" charset="0"/>
              </a:rPr>
              <a:t>user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067" y="3259203"/>
            <a:ext cx="2077492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UserService.java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5176" y="1425716"/>
            <a:ext cx="87644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A0A0A0"/>
                </a:solidFill>
                <a:latin typeface="Consolas" pitchFamily="49" charset="0"/>
              </a:rPr>
              <a:t>@Repository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// spring bean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public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interface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80F2F6"/>
                </a:solidFill>
                <a:latin typeface="Consolas" pitchFamily="49" charset="0"/>
              </a:rPr>
              <a:t>UserRepository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extends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80F2F6"/>
                </a:solidFill>
                <a:latin typeface="Consolas" pitchFamily="49" charset="0"/>
              </a:rPr>
              <a:t>CrudRepository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&lt;</a:t>
            </a:r>
            <a:r>
              <a:rPr lang="en-US" altLang="zh-CN" dirty="0" err="1">
                <a:solidFill>
                  <a:srgbClr val="B166DA"/>
                </a:solidFill>
                <a:latin typeface="Consolas" pitchFamily="49" charset="0"/>
              </a:rPr>
              <a:t>User</a:t>
            </a:r>
            <a:r>
              <a:rPr lang="en-US" altLang="zh-CN" dirty="0" err="1">
                <a:solidFill>
                  <a:srgbClr val="E6E6FA"/>
                </a:solidFill>
                <a:latin typeface="Consolas" pitchFamily="49" charset="0"/>
              </a:rPr>
              <a:t>,</a:t>
            </a:r>
            <a:r>
              <a:rPr lang="en-US" altLang="zh-CN" dirty="0" err="1">
                <a:solidFill>
                  <a:srgbClr val="B166DA"/>
                </a:solidFill>
                <a:latin typeface="Consolas" pitchFamily="49" charset="0"/>
              </a:rPr>
              <a:t>Integer</a:t>
            </a:r>
            <a:r>
              <a:rPr lang="en-US" altLang="zh-CN" dirty="0" smtClean="0">
                <a:solidFill>
                  <a:srgbClr val="E6E6FA"/>
                </a:solidFill>
                <a:latin typeface="Consolas" pitchFamily="49" charset="0"/>
              </a:rPr>
              <a:t>&gt;</a:t>
            </a:r>
            <a:r>
              <a:rPr lang="en-US" altLang="zh-CN" dirty="0" smtClean="0">
                <a:solidFill>
                  <a:srgbClr val="D9E8F7"/>
                </a:solidFill>
                <a:latin typeface="Consolas" pitchFamily="49" charset="0"/>
              </a:rPr>
              <a:t> {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	</a:t>
            </a:r>
            <a:r>
              <a:rPr lang="en-US" altLang="zh-CN" dirty="0" smtClean="0">
                <a:solidFill>
                  <a:srgbClr val="808080"/>
                </a:solidFill>
                <a:latin typeface="Consolas" pitchFamily="49" charset="0"/>
              </a:rPr>
              <a:t>// </a:t>
            </a:r>
            <a:r>
              <a:rPr lang="zh-CN" altLang="en-US" dirty="0">
                <a:solidFill>
                  <a:srgbClr val="808080"/>
                </a:solidFill>
                <a:latin typeface="Consolas" pitchFamily="49" charset="0"/>
              </a:rPr>
              <a:t>根据用户名查询用户（</a:t>
            </a:r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Spring Data JPA </a:t>
            </a:r>
            <a:r>
              <a:rPr lang="zh-CN" altLang="en-US" dirty="0">
                <a:solidFill>
                  <a:srgbClr val="808080"/>
                </a:solidFill>
                <a:latin typeface="Consolas" pitchFamily="49" charset="0"/>
              </a:rPr>
              <a:t>自动生成实现）</a:t>
            </a:r>
            <a:endParaRPr lang="zh-CN" altLang="en-US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1290C3"/>
                </a:solidFill>
                <a:latin typeface="Consolas" pitchFamily="49" charset="0"/>
              </a:rPr>
              <a:t>	User</a:t>
            </a:r>
            <a:r>
              <a:rPr lang="en-US" altLang="zh-CN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1EB540"/>
                </a:solidFill>
                <a:latin typeface="Consolas" pitchFamily="49" charset="0"/>
              </a:rPr>
              <a:t>findByUserName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79ABFF"/>
                </a:solidFill>
                <a:latin typeface="Consolas" pitchFamily="49" charset="0"/>
              </a:rPr>
              <a:t>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9944" y="1082485"/>
            <a:ext cx="2493696" cy="4069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UserRepository.java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5176" y="1076083"/>
            <a:ext cx="8975858" cy="51953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en-US" altLang="zh-CN" dirty="0" smtClean="0"/>
              <a:t>.2 </a:t>
            </a:r>
            <a:r>
              <a:rPr lang="zh-CN" altLang="en-US" dirty="0" smtClean="0"/>
              <a:t>维护</a:t>
            </a:r>
            <a:r>
              <a:rPr lang="en-US" altLang="zh-CN" dirty="0" smtClean="0"/>
              <a:t>Token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49944" y="1082485"/>
            <a:ext cx="1747338" cy="4069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JWTUtils.java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9944" y="2760816"/>
            <a:ext cx="81950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CCCCC"/>
                </a:solidFill>
                <a:latin typeface="Consolas" pitchFamily="49" charset="0"/>
              </a:rPr>
              <a:t>// </a:t>
            </a:r>
            <a:r>
              <a:rPr lang="zh-CN" altLang="en-US" dirty="0" smtClean="0">
                <a:solidFill>
                  <a:srgbClr val="CCCCCC"/>
                </a:solidFill>
                <a:latin typeface="Consolas" pitchFamily="49" charset="0"/>
              </a:rPr>
              <a:t>生成</a:t>
            </a:r>
            <a:r>
              <a:rPr lang="en-US" altLang="zh-CN" dirty="0" smtClean="0">
                <a:solidFill>
                  <a:srgbClr val="CCCCCC"/>
                </a:solidFill>
                <a:latin typeface="Consolas" pitchFamily="49" charset="0"/>
              </a:rPr>
              <a:t>Token</a:t>
            </a:r>
            <a:endParaRPr lang="zh-CN" altLang="en-US" dirty="0" smtClean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CC6C1D"/>
                </a:solidFill>
                <a:latin typeface="Consolas" pitchFamily="49" charset="0"/>
              </a:rPr>
              <a:t>public</a:t>
            </a:r>
            <a:r>
              <a:rPr lang="en-US" altLang="zh-CN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1EB540"/>
                </a:solidFill>
                <a:latin typeface="Consolas" pitchFamily="49" charset="0"/>
              </a:rPr>
              <a:t>generateToken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79ABFF"/>
                </a:solidFill>
                <a:latin typeface="Consolas" pitchFamily="49" charset="0"/>
              </a:rPr>
              <a:t>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Date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F2F200"/>
                </a:solidFill>
                <a:latin typeface="Consolas" pitchFamily="49" charset="0"/>
              </a:rPr>
              <a:t>now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new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A7EC21"/>
                </a:solidFill>
                <a:latin typeface="Consolas" pitchFamily="49" charset="0"/>
              </a:rPr>
              <a:t>Date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Date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F2F200"/>
                </a:solidFill>
                <a:latin typeface="Consolas" pitchFamily="49" charset="0"/>
              </a:rPr>
              <a:t>expireAt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new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A7EC21"/>
                </a:solidFill>
                <a:latin typeface="Consolas" pitchFamily="49" charset="0"/>
              </a:rPr>
              <a:t>Date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 err="1">
                <a:solidFill>
                  <a:srgbClr val="F3EC79"/>
                </a:solidFill>
                <a:latin typeface="Consolas" pitchFamily="49" charset="0"/>
              </a:rPr>
              <a:t>now</a:t>
            </a:r>
            <a:r>
              <a:rPr lang="en-US" altLang="zh-CN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getTime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()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+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b="1" i="1" dirty="0">
                <a:solidFill>
                  <a:srgbClr val="8DDAF8"/>
                </a:solidFill>
                <a:latin typeface="Consolas" pitchFamily="49" charset="0"/>
              </a:rPr>
              <a:t>EXPIRE_TIME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br>
              <a:rPr lang="en-US" altLang="zh-CN" dirty="0">
                <a:solidFill>
                  <a:srgbClr val="CCCCCC"/>
                </a:solidFill>
                <a:latin typeface="Consolas" pitchFamily="49" charset="0"/>
              </a:rPr>
            </a:b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return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1290C3"/>
                </a:solidFill>
                <a:latin typeface="Consolas" pitchFamily="49" charset="0"/>
              </a:rPr>
              <a:t>JWT</a:t>
            </a:r>
            <a:r>
              <a:rPr lang="en-US" altLang="zh-CN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i="1" dirty="0" err="1">
                <a:solidFill>
                  <a:srgbClr val="96EC3F"/>
                </a:solidFill>
                <a:latin typeface="Consolas" pitchFamily="49" charset="0"/>
              </a:rPr>
              <a:t>create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()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withSubject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79ABFF"/>
                </a:solidFill>
                <a:latin typeface="Consolas" pitchFamily="49" charset="0"/>
              </a:rPr>
              <a:t>username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withIssuedAt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F3EC79"/>
                </a:solidFill>
                <a:latin typeface="Consolas" pitchFamily="49" charset="0"/>
              </a:rPr>
              <a:t>now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 err="1">
                <a:solidFill>
                  <a:srgbClr val="A7EC21"/>
                </a:solidFill>
                <a:latin typeface="Consolas" pitchFamily="49" charset="0"/>
              </a:rPr>
              <a:t>withExpiresAt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 err="1">
                <a:solidFill>
                  <a:srgbClr val="F3EC79"/>
                </a:solidFill>
                <a:latin typeface="Consolas" pitchFamily="49" charset="0"/>
              </a:rPr>
              <a:t>expireAt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dirty="0">
                <a:solidFill>
                  <a:srgbClr val="A7EC21"/>
                </a:solidFill>
                <a:latin typeface="Consolas" pitchFamily="49" charset="0"/>
              </a:rPr>
              <a:t>sign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dirty="0">
                <a:solidFill>
                  <a:srgbClr val="3EABE6"/>
                </a:solidFill>
                <a:latin typeface="Consolas" pitchFamily="49" charset="0"/>
              </a:rPr>
              <a:t>Algorithm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i="1" dirty="0">
                <a:solidFill>
                  <a:srgbClr val="96EC3F"/>
                </a:solidFill>
                <a:latin typeface="Consolas" pitchFamily="49" charset="0"/>
              </a:rPr>
              <a:t>HMAC256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b="1" i="1" dirty="0">
                <a:solidFill>
                  <a:srgbClr val="8DDAF8"/>
                </a:solidFill>
                <a:latin typeface="Consolas" pitchFamily="49" charset="0"/>
              </a:rPr>
              <a:t>SECRET</a:t>
            </a:r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))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9944" y="1560486"/>
            <a:ext cx="90821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// </a:t>
            </a:r>
            <a:r>
              <a:rPr lang="zh-CN" altLang="en-US" dirty="0">
                <a:solidFill>
                  <a:srgbClr val="808080"/>
                </a:solidFill>
                <a:latin typeface="Consolas" pitchFamily="49" charset="0"/>
              </a:rPr>
              <a:t>自定义密钥，建议从配置文件中读取</a:t>
            </a:r>
            <a:endParaRPr lang="zh-CN" altLang="en-US" dirty="0">
              <a:solidFill>
                <a:srgbClr val="D9E8F7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private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final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b="1" i="1" dirty="0">
                <a:solidFill>
                  <a:srgbClr val="8DDAF8"/>
                </a:solidFill>
                <a:latin typeface="Consolas" pitchFamily="49" charset="0"/>
              </a:rPr>
              <a:t>SECRET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17C6A3"/>
                </a:solidFill>
                <a:latin typeface="Consolas" pitchFamily="49" charset="0"/>
              </a:rPr>
              <a:t>"</a:t>
            </a:r>
            <a:r>
              <a:rPr lang="en-US" altLang="zh-CN" dirty="0" err="1">
                <a:solidFill>
                  <a:srgbClr val="17C6A3"/>
                </a:solidFill>
                <a:latin typeface="Consolas" pitchFamily="49" charset="0"/>
              </a:rPr>
              <a:t>his_secret_key</a:t>
            </a:r>
            <a:r>
              <a:rPr lang="en-US" altLang="zh-CN" dirty="0">
                <a:solidFill>
                  <a:srgbClr val="17C6A3"/>
                </a:solidFill>
                <a:latin typeface="Consolas" pitchFamily="49" charset="0"/>
              </a:rPr>
              <a:t>"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// </a:t>
            </a:r>
            <a:r>
              <a:rPr lang="zh-CN" altLang="en-US" dirty="0">
                <a:solidFill>
                  <a:srgbClr val="808080"/>
                </a:solidFill>
                <a:latin typeface="Consolas" pitchFamily="49" charset="0"/>
              </a:rPr>
              <a:t>过期时间（单位毫秒） 例如：</a:t>
            </a:r>
            <a:r>
              <a:rPr lang="en-US" altLang="zh-CN" dirty="0">
                <a:solidFill>
                  <a:srgbClr val="808080"/>
                </a:solidFill>
                <a:latin typeface="Consolas" pitchFamily="49" charset="0"/>
              </a:rPr>
              <a:t>1 </a:t>
            </a:r>
            <a:r>
              <a:rPr lang="zh-CN" altLang="en-US" dirty="0">
                <a:solidFill>
                  <a:srgbClr val="808080"/>
                </a:solidFill>
                <a:latin typeface="Consolas" pitchFamily="49" charset="0"/>
              </a:rPr>
              <a:t>小时</a:t>
            </a:r>
            <a:endParaRPr lang="zh-CN" altLang="en-US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private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static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final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C6C1D"/>
                </a:solidFill>
                <a:latin typeface="Consolas" pitchFamily="49" charset="0"/>
              </a:rPr>
              <a:t>long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b="1" i="1" dirty="0">
                <a:solidFill>
                  <a:srgbClr val="8DDAF8"/>
                </a:solidFill>
                <a:latin typeface="Consolas" pitchFamily="49" charset="0"/>
              </a:rPr>
              <a:t>EXPIRE_TIME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897BB"/>
                </a:solidFill>
                <a:latin typeface="Consolas" pitchFamily="49" charset="0"/>
              </a:rPr>
              <a:t>60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*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897BB"/>
                </a:solidFill>
                <a:latin typeface="Consolas" pitchFamily="49" charset="0"/>
              </a:rPr>
              <a:t>60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*</a:t>
            </a:r>
            <a:r>
              <a:rPr lang="en-US" altLang="zh-CN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897BB"/>
                </a:solidFill>
                <a:latin typeface="Consolas" pitchFamily="49" charset="0"/>
              </a:rPr>
              <a:t>1000</a:t>
            </a:r>
            <a:r>
              <a:rPr lang="en-US" altLang="zh-CN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dirty="0">
              <a:solidFill>
                <a:srgbClr val="CCCCCC"/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5176" y="1076083"/>
            <a:ext cx="8975858" cy="51953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en-US" altLang="zh-CN" dirty="0" smtClean="0"/>
              <a:t>.2 </a:t>
            </a:r>
            <a:r>
              <a:rPr lang="zh-CN" altLang="en-US" dirty="0" smtClean="0"/>
              <a:t>维护</a:t>
            </a:r>
            <a:r>
              <a:rPr lang="en-US" altLang="zh-CN" dirty="0" smtClean="0"/>
              <a:t>Token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49944" y="1082485"/>
            <a:ext cx="1747338" cy="4069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JWTUtils.java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9944" y="1495858"/>
            <a:ext cx="830723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808080"/>
                </a:solidFill>
                <a:latin typeface="Consolas" pitchFamily="49" charset="0"/>
              </a:rPr>
              <a:t>/*</a:t>
            </a:r>
            <a:r>
              <a:rPr lang="zh-CN" altLang="en-US" sz="1600" dirty="0" smtClean="0">
                <a:solidFill>
                  <a:srgbClr val="808080"/>
                </a:solidFill>
                <a:latin typeface="Consolas" pitchFamily="49" charset="0"/>
              </a:rPr>
              <a:t>校验 </a:t>
            </a:r>
            <a:r>
              <a:rPr lang="en-US" altLang="zh-CN" sz="1600" dirty="0">
                <a:solidFill>
                  <a:srgbClr val="808080"/>
                </a:solidFill>
                <a:latin typeface="Consolas" pitchFamily="49" charset="0"/>
              </a:rPr>
              <a:t>Token </a:t>
            </a:r>
            <a:r>
              <a:rPr lang="zh-CN" altLang="en-US" sz="1600" dirty="0">
                <a:solidFill>
                  <a:srgbClr val="808080"/>
                </a:solidFill>
                <a:latin typeface="Consolas" pitchFamily="49" charset="0"/>
              </a:rPr>
              <a:t>是否</a:t>
            </a:r>
            <a:r>
              <a:rPr lang="zh-CN" altLang="en-US" sz="1600" dirty="0" smtClean="0">
                <a:solidFill>
                  <a:srgbClr val="808080"/>
                </a:solidFill>
                <a:latin typeface="Consolas" pitchFamily="49" charset="0"/>
              </a:rPr>
              <a:t>有效*</a:t>
            </a:r>
            <a:r>
              <a:rPr lang="en-US" altLang="zh-CN" sz="1600" dirty="0" smtClean="0">
                <a:solidFill>
                  <a:srgbClr val="808080"/>
                </a:solidFill>
                <a:latin typeface="Consolas" pitchFamily="49" charset="0"/>
              </a:rPr>
              <a:t>/</a:t>
            </a:r>
            <a:endParaRPr lang="zh-CN" altLang="en-US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public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static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CC6C1D"/>
                </a:solidFill>
                <a:latin typeface="Consolas" pitchFamily="49" charset="0"/>
              </a:rPr>
              <a:t>boolean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1EB540"/>
                </a:solidFill>
                <a:latin typeface="Consolas" pitchFamily="49" charset="0"/>
              </a:rPr>
              <a:t>verifyToken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79ABFF"/>
                </a:solidFill>
                <a:latin typeface="Consolas" pitchFamily="49" charset="0"/>
              </a:rPr>
              <a:t>token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try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2"/>
            <a:r>
              <a:rPr lang="en-US" altLang="zh-CN" sz="1600" dirty="0" err="1">
                <a:solidFill>
                  <a:srgbClr val="80F2F6"/>
                </a:solidFill>
                <a:latin typeface="Consolas" pitchFamily="49" charset="0"/>
              </a:rPr>
              <a:t>JWTVerifier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2F200"/>
                </a:solidFill>
                <a:latin typeface="Consolas" pitchFamily="49" charset="0"/>
              </a:rPr>
              <a:t>verifier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1290C3"/>
                </a:solidFill>
                <a:latin typeface="Consolas" pitchFamily="49" charset="0"/>
              </a:rPr>
              <a:t>JWT</a:t>
            </a:r>
            <a:r>
              <a:rPr lang="en-US" altLang="zh-CN" sz="1600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i="1" dirty="0" err="1">
                <a:solidFill>
                  <a:srgbClr val="96EC3F"/>
                </a:solidFill>
                <a:latin typeface="Consolas" pitchFamily="49" charset="0"/>
              </a:rPr>
              <a:t>require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3EABE6"/>
                </a:solidFill>
                <a:latin typeface="Consolas" pitchFamily="49" charset="0"/>
              </a:rPr>
              <a:t>Algorithm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i="1" dirty="0">
                <a:solidFill>
                  <a:srgbClr val="96EC3F"/>
                </a:solidFill>
                <a:latin typeface="Consolas" pitchFamily="49" charset="0"/>
              </a:rPr>
              <a:t>HMAC256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b="1" i="1" dirty="0">
                <a:solidFill>
                  <a:srgbClr val="8DDAF8"/>
                </a:solidFill>
                <a:latin typeface="Consolas" pitchFamily="49" charset="0"/>
              </a:rPr>
              <a:t>SECRET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))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80F6A7"/>
                </a:solidFill>
                <a:latin typeface="Consolas" pitchFamily="49" charset="0"/>
              </a:rPr>
              <a:t>build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()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2"/>
            <a:r>
              <a:rPr lang="en-US" altLang="zh-CN" sz="1600" dirty="0" err="1">
                <a:solidFill>
                  <a:srgbClr val="F3EC79"/>
                </a:solidFill>
                <a:latin typeface="Consolas" pitchFamily="49" charset="0"/>
              </a:rPr>
              <a:t>verifier</a:t>
            </a:r>
            <a:r>
              <a:rPr lang="en-US" altLang="zh-CN" sz="1600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80F6A7"/>
                </a:solidFill>
                <a:latin typeface="Consolas" pitchFamily="49" charset="0"/>
              </a:rPr>
              <a:t>verify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79ABFF"/>
                </a:solidFill>
                <a:latin typeface="Consolas" pitchFamily="49" charset="0"/>
              </a:rPr>
              <a:t>token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CC6C1D"/>
                </a:solidFill>
                <a:latin typeface="Consolas" pitchFamily="49" charset="0"/>
              </a:rPr>
              <a:t>	return</a:t>
            </a:r>
            <a:r>
              <a:rPr lang="en-US" altLang="zh-CN" sz="1600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true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}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catch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1290C3"/>
                </a:solidFill>
                <a:latin typeface="Consolas" pitchFamily="49" charset="0"/>
              </a:rPr>
              <a:t>JWTVerificationException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2F200"/>
                </a:solidFill>
                <a:latin typeface="Consolas" pitchFamily="49" charset="0"/>
              </a:rPr>
              <a:t>e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CC6C1D"/>
                </a:solidFill>
                <a:latin typeface="Consolas" pitchFamily="49" charset="0"/>
              </a:rPr>
              <a:t>	return</a:t>
            </a:r>
            <a:r>
              <a:rPr lang="en-US" altLang="zh-CN" sz="1600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false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 smtClean="0">
                <a:solidFill>
                  <a:srgbClr val="F9FAF4"/>
                </a:solidFill>
                <a:latin typeface="Consolas" pitchFamily="49" charset="0"/>
              </a:rPr>
              <a:t>}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 smtClean="0">
                <a:solidFill>
                  <a:srgbClr val="808080"/>
                </a:solidFill>
                <a:latin typeface="Consolas" pitchFamily="49" charset="0"/>
              </a:rPr>
              <a:t>/*</a:t>
            </a:r>
            <a:r>
              <a:rPr lang="zh-CN" altLang="en-US" sz="1600" dirty="0" smtClean="0">
                <a:solidFill>
                  <a:srgbClr val="808080"/>
                </a:solidFill>
                <a:latin typeface="Consolas" pitchFamily="49" charset="0"/>
              </a:rPr>
              <a:t>从 </a:t>
            </a:r>
            <a:r>
              <a:rPr lang="en-US" altLang="zh-CN" sz="1600" dirty="0">
                <a:solidFill>
                  <a:srgbClr val="808080"/>
                </a:solidFill>
                <a:latin typeface="Consolas" pitchFamily="49" charset="0"/>
              </a:rPr>
              <a:t>token </a:t>
            </a:r>
            <a:r>
              <a:rPr lang="zh-CN" altLang="en-US" sz="1600" dirty="0">
                <a:solidFill>
                  <a:srgbClr val="808080"/>
                </a:solidFill>
                <a:latin typeface="Consolas" pitchFamily="49" charset="0"/>
              </a:rPr>
              <a:t>中获取</a:t>
            </a:r>
            <a:r>
              <a:rPr lang="zh-CN" altLang="en-US" sz="1600" dirty="0" smtClean="0">
                <a:solidFill>
                  <a:srgbClr val="808080"/>
                </a:solidFill>
                <a:latin typeface="Consolas" pitchFamily="49" charset="0"/>
              </a:rPr>
              <a:t>用户名*</a:t>
            </a:r>
            <a:r>
              <a:rPr lang="en-US" altLang="zh-CN" sz="1600" dirty="0" smtClean="0">
                <a:solidFill>
                  <a:srgbClr val="808080"/>
                </a:solidFill>
                <a:latin typeface="Consolas" pitchFamily="49" charset="0"/>
              </a:rPr>
              <a:t>/</a:t>
            </a:r>
            <a:endParaRPr lang="zh-CN" altLang="en-US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 smtClean="0">
                <a:solidFill>
                  <a:srgbClr val="CC6C1D"/>
                </a:solidFill>
                <a:latin typeface="Consolas" pitchFamily="49" charset="0"/>
              </a:rPr>
              <a:t>public</a:t>
            </a:r>
            <a:r>
              <a:rPr lang="en-US" altLang="zh-CN" sz="1600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static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1EB540"/>
                </a:solidFill>
                <a:latin typeface="Consolas" pitchFamily="49" charset="0"/>
              </a:rPr>
              <a:t>getUsername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1290C3"/>
                </a:solidFill>
                <a:latin typeface="Consolas" pitchFamily="49" charset="0"/>
              </a:rPr>
              <a:t>String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79ABFF"/>
                </a:solidFill>
                <a:latin typeface="Consolas" pitchFamily="49" charset="0"/>
              </a:rPr>
              <a:t>token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try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 err="1">
                <a:solidFill>
                  <a:srgbClr val="80F2F6"/>
                </a:solidFill>
                <a:latin typeface="Consolas" pitchFamily="49" charset="0"/>
              </a:rPr>
              <a:t>DecodedJWT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F2F200"/>
                </a:solidFill>
                <a:latin typeface="Consolas" pitchFamily="49" charset="0"/>
              </a:rPr>
              <a:t>jwt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=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1290C3"/>
                </a:solidFill>
                <a:latin typeface="Consolas" pitchFamily="49" charset="0"/>
              </a:rPr>
              <a:t>JWT</a:t>
            </a:r>
            <a:r>
              <a:rPr lang="en-US" altLang="zh-CN" sz="1600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i="1" dirty="0" err="1">
                <a:solidFill>
                  <a:srgbClr val="96EC3F"/>
                </a:solidFill>
                <a:latin typeface="Consolas" pitchFamily="49" charset="0"/>
              </a:rPr>
              <a:t>decode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79ABFF"/>
                </a:solidFill>
                <a:latin typeface="Consolas" pitchFamily="49" charset="0"/>
              </a:rPr>
              <a:t>token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F3EC79"/>
                </a:solidFill>
                <a:latin typeface="Consolas" pitchFamily="49" charset="0"/>
              </a:rPr>
              <a:t>jwt</a:t>
            </a:r>
            <a:r>
              <a:rPr lang="en-US" altLang="zh-CN" sz="1600" dirty="0" err="1">
                <a:solidFill>
                  <a:srgbClr val="E6E6FA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80F6A7"/>
                </a:solidFill>
                <a:latin typeface="Consolas" pitchFamily="49" charset="0"/>
              </a:rPr>
              <a:t>getSubject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()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}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catch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1290C3"/>
                </a:solidFill>
                <a:latin typeface="Consolas" pitchFamily="49" charset="0"/>
              </a:rPr>
              <a:t>JWTDecodeException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2F200"/>
                </a:solidFill>
                <a:latin typeface="Consolas" pitchFamily="49" charset="0"/>
              </a:rPr>
              <a:t>e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)</a:t>
            </a:r>
            <a:r>
              <a:rPr lang="en-US" altLang="zh-CN" sz="1600" dirty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F9FAF4"/>
                </a:solidFill>
                <a:latin typeface="Consolas" pitchFamily="49" charset="0"/>
              </a:rPr>
              <a:t>{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 smtClean="0">
                <a:solidFill>
                  <a:srgbClr val="CC6C1D"/>
                </a:solidFill>
                <a:latin typeface="Consolas" pitchFamily="49" charset="0"/>
              </a:rPr>
              <a:t>	return</a:t>
            </a:r>
            <a:r>
              <a:rPr lang="en-US" altLang="zh-CN" sz="1600" dirty="0" smtClean="0">
                <a:solidFill>
                  <a:srgbClr val="D9E8F7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CC6C1D"/>
                </a:solidFill>
                <a:latin typeface="Consolas" pitchFamily="49" charset="0"/>
              </a:rPr>
              <a:t>null</a:t>
            </a:r>
            <a:r>
              <a:rPr lang="en-US" altLang="zh-CN" sz="1600" dirty="0">
                <a:solidFill>
                  <a:srgbClr val="E6E6FA"/>
                </a:solidFill>
                <a:latin typeface="Consolas" pitchFamily="49" charset="0"/>
              </a:rPr>
              <a:t>;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  <a:p>
            <a:r>
              <a:rPr lang="en-US" altLang="zh-CN" sz="1600" dirty="0" smtClean="0">
                <a:solidFill>
                  <a:srgbClr val="F9FAF4"/>
                </a:solidFill>
                <a:latin typeface="Consolas" pitchFamily="49" charset="0"/>
              </a:rPr>
              <a:t>}}</a:t>
            </a:r>
            <a:endParaRPr lang="en-US" altLang="zh-CN" sz="1600" dirty="0">
              <a:solidFill>
                <a:srgbClr val="CCCCCC"/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altLang="zh-CN" dirty="0" smtClean="0">
                <a:latin typeface="Impact" panose="020B0806030902050204" pitchFamily="34" charset="0"/>
              </a:rPr>
              <a:t>6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459617" y="3484737"/>
            <a:ext cx="6581037" cy="7215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前端接收用户信息，并展示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5175" y="1076083"/>
            <a:ext cx="10494107" cy="51953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前端登录功能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49944" y="1082485"/>
            <a:ext cx="1317990" cy="4069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Login.vue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6932" y="1463493"/>
            <a:ext cx="1112193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569CD6"/>
                </a:solidFill>
                <a:latin typeface="Consolas" pitchFamily="49" charset="0"/>
              </a:rPr>
              <a:t>async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itchFamily="49" charset="0"/>
              </a:rPr>
              <a:t>login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() {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4FC1FF"/>
                </a:solidFill>
                <a:latin typeface="Consolas" pitchFamily="49" charset="0"/>
              </a:rPr>
              <a:t>$</a:t>
            </a:r>
            <a:r>
              <a:rPr lang="en-US" altLang="zh-CN" sz="1600" dirty="0" err="1">
                <a:solidFill>
                  <a:srgbClr val="4FC1FF"/>
                </a:solidFill>
                <a:latin typeface="Consolas" pitchFamily="49" charset="0"/>
              </a:rPr>
              <a:t>refs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loginFormRef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validate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569CD6"/>
                </a:solidFill>
                <a:latin typeface="Consolas" pitchFamily="49" charset="0"/>
              </a:rPr>
              <a:t>async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valid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=&gt;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{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C586C0"/>
                </a:solidFill>
                <a:latin typeface="Consolas" pitchFamily="49" charset="0"/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(!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valid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 </a:t>
            </a:r>
            <a:r>
              <a:rPr lang="en-US" altLang="zh-CN" sz="1600" dirty="0">
                <a:solidFill>
                  <a:srgbClr val="C586C0"/>
                </a:solidFill>
                <a:latin typeface="Consolas" pitchFamily="49" charset="0"/>
              </a:rPr>
              <a:t>return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 err="1">
                <a:solidFill>
                  <a:srgbClr val="569CD6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{ 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data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: </a:t>
            </a:r>
            <a:r>
              <a:rPr lang="en-US" altLang="zh-CN" sz="1600" dirty="0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} = </a:t>
            </a:r>
            <a:r>
              <a:rPr lang="en-US" altLang="zh-CN" sz="1600" dirty="0">
                <a:solidFill>
                  <a:srgbClr val="C586C0"/>
                </a:solidFill>
                <a:latin typeface="Consolas" pitchFamily="49" charset="0"/>
              </a:rPr>
              <a:t>await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$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http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post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itchFamily="49" charset="0"/>
              </a:rPr>
              <a:t>'user/login'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, </a:t>
            </a:r>
            <a:r>
              <a:rPr lang="en-US" altLang="zh-CN" sz="1600" dirty="0" err="1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loginForm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b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</a:b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console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DCDCAA"/>
                </a:solidFill>
                <a:latin typeface="Consolas" pitchFamily="49" charset="0"/>
              </a:rPr>
              <a:t>log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b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</a:b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C586C0"/>
                </a:solidFill>
                <a:latin typeface="Consolas" pitchFamily="49" charset="0"/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code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!== </a:t>
            </a:r>
            <a:r>
              <a:rPr lang="en-US" altLang="zh-CN" sz="1600" dirty="0">
                <a:solidFill>
                  <a:srgbClr val="B5CEA8"/>
                </a:solidFill>
                <a:latin typeface="Consolas" pitchFamily="49" charset="0"/>
              </a:rPr>
              <a:t>200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 </a:t>
            </a:r>
            <a:r>
              <a:rPr lang="en-US" altLang="zh-CN" sz="1600" dirty="0">
                <a:solidFill>
                  <a:srgbClr val="C586C0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$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message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error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message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$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message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success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itchFamily="49" charset="0"/>
              </a:rPr>
              <a:t>'</a:t>
            </a:r>
            <a:r>
              <a:rPr lang="zh-CN" altLang="en-US" sz="1600" dirty="0">
                <a:solidFill>
                  <a:srgbClr val="CE9178"/>
                </a:solidFill>
                <a:latin typeface="Consolas" pitchFamily="49" charset="0"/>
              </a:rPr>
              <a:t>登录成功</a:t>
            </a:r>
            <a:r>
              <a:rPr lang="en-US" altLang="zh-CN" sz="1600" dirty="0">
                <a:solidFill>
                  <a:srgbClr val="CE9178"/>
                </a:solidFill>
                <a:latin typeface="Consolas" pitchFamily="49" charset="0"/>
              </a:rPr>
              <a:t>'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b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</a:b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// 1.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将登录成功之后的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token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，保存到客户端的 </a:t>
            </a:r>
            <a:r>
              <a:rPr lang="en-US" altLang="zh-CN" sz="1600" dirty="0" err="1">
                <a:solidFill>
                  <a:srgbClr val="6A9955"/>
                </a:solidFill>
                <a:latin typeface="Consolas" pitchFamily="49" charset="0"/>
              </a:rPr>
              <a:t>sessionStorage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中</a:t>
            </a:r>
            <a:endParaRPr lang="zh-CN" altLang="en-US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zh-CN" altLang="en-US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//   1.1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项目中出了登录之外的其他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API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接口，必须在登录之后才能访问</a:t>
            </a:r>
            <a:endParaRPr lang="zh-CN" altLang="en-US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zh-CN" altLang="en-US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//   1.2 token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只应在当前网站打开期间生效，所以将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token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保存在 </a:t>
            </a:r>
            <a:r>
              <a:rPr lang="en-US" altLang="zh-CN" sz="1600" dirty="0" err="1">
                <a:solidFill>
                  <a:srgbClr val="6A9955"/>
                </a:solidFill>
                <a:latin typeface="Consolas" pitchFamily="49" charset="0"/>
              </a:rPr>
              <a:t>sessionStorage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中</a:t>
            </a:r>
            <a:endParaRPr lang="zh-CN" altLang="en-US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zh-CN" altLang="en-US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window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sessionStorage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setItem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itchFamily="49" charset="0"/>
              </a:rPr>
              <a:t>'token'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, </a:t>
            </a:r>
            <a:r>
              <a:rPr lang="en-US" altLang="zh-CN" sz="1600" dirty="0" err="1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data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token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 err="1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setUserInfo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4FC1FF"/>
                </a:solidFill>
                <a:latin typeface="Consolas" pitchFamily="49" charset="0"/>
              </a:rPr>
              <a:t>res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data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user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// 2. </a:t>
            </a:r>
            <a:r>
              <a:rPr lang="zh-CN" altLang="en-US" sz="1600" dirty="0">
                <a:solidFill>
                  <a:srgbClr val="6A9955"/>
                </a:solidFill>
                <a:latin typeface="Consolas" pitchFamily="49" charset="0"/>
              </a:rPr>
              <a:t>通过编程式导航跳转到后台主页，路由地址是 </a:t>
            </a:r>
            <a:r>
              <a:rPr lang="en-US" altLang="zh-CN" sz="1600" dirty="0">
                <a:solidFill>
                  <a:srgbClr val="6A9955"/>
                </a:solidFill>
                <a:latin typeface="Consolas" pitchFamily="49" charset="0"/>
              </a:rPr>
              <a:t>/home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  </a:t>
            </a:r>
            <a:r>
              <a:rPr lang="en-US" altLang="zh-CN" sz="1600" dirty="0">
                <a:solidFill>
                  <a:srgbClr val="569CD6"/>
                </a:solidFill>
                <a:latin typeface="Consolas" pitchFamily="49" charset="0"/>
              </a:rPr>
              <a:t>this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itchFamily="49" charset="0"/>
              </a:rPr>
              <a:t>$</a:t>
            </a:r>
            <a:r>
              <a:rPr lang="en-US" altLang="zh-CN" sz="1600" dirty="0" err="1">
                <a:solidFill>
                  <a:srgbClr val="9CDCFE"/>
                </a:solidFill>
                <a:latin typeface="Consolas" pitchFamily="49" charset="0"/>
              </a:rPr>
              <a:t>router</a:t>
            </a:r>
            <a:r>
              <a:rPr lang="en-US" altLang="zh-CN" sz="1600" dirty="0" err="1">
                <a:solidFill>
                  <a:srgbClr val="D4D4D4"/>
                </a:solidFill>
                <a:latin typeface="Consolas" pitchFamily="49" charset="0"/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  <a:latin typeface="Consolas" pitchFamily="49" charset="0"/>
              </a:rPr>
              <a:t>push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itchFamily="49" charset="0"/>
              </a:rPr>
              <a:t>'/home'</a:t>
            </a:r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  })</a:t>
            </a:r>
            <a:endParaRPr lang="en-US" altLang="zh-CN" sz="1600" dirty="0">
              <a:solidFill>
                <a:srgbClr val="D4D4D4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itchFamily="49" charset="0"/>
              </a:rPr>
              <a:t>    }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563478" y="516418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3"/>
          <p:cNvSpPr txBox="1"/>
          <p:nvPr/>
        </p:nvSpPr>
        <p:spPr>
          <a:xfrm>
            <a:off x="1487277" y="1682467"/>
            <a:ext cx="3345980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38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mpact" panose="020B0806030902050204" pitchFamily="34" charset="0"/>
              </a:rPr>
              <a:t> </a:t>
            </a:r>
            <a:r>
              <a:rPr lang="en-US" dirty="0" smtClean="0">
                <a:latin typeface="Impact" panose="020B0806030902050204" pitchFamily="34" charset="0"/>
              </a:rPr>
              <a:t>    </a:t>
            </a:r>
            <a:r>
              <a:rPr lang="en-US" altLang="zh-CN" dirty="0" smtClean="0">
                <a:latin typeface="Impact" panose="020B0806030902050204" pitchFamily="34" charset="0"/>
              </a:rPr>
              <a:t>7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0" name="文本占位符 13"/>
          <p:cNvSpPr txBox="1"/>
          <p:nvPr/>
        </p:nvSpPr>
        <p:spPr>
          <a:xfrm>
            <a:off x="2511118" y="3398220"/>
            <a:ext cx="2446869" cy="7848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实验任务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6413720" y="0"/>
            <a:ext cx="5016553" cy="6858000"/>
          </a:xfrm>
          <a:prstGeom prst="parallelogram">
            <a:avLst>
              <a:gd name="adj" fmla="val 394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9" r="47614" b="16216"/>
          <a:stretch>
            <a:fillRect/>
          </a:stretch>
        </p:blipFill>
        <p:spPr>
          <a:xfrm>
            <a:off x="6515049" y="0"/>
            <a:ext cx="5397122" cy="6858000"/>
          </a:xfrm>
          <a:custGeom>
            <a:avLst/>
            <a:gdLst>
              <a:gd name="connsiteX0" fmla="*/ 1981014 w 5397122"/>
              <a:gd name="connsiteY0" fmla="*/ 0 h 6858000"/>
              <a:gd name="connsiteX1" fmla="*/ 5397122 w 5397122"/>
              <a:gd name="connsiteY1" fmla="*/ 0 h 6858000"/>
              <a:gd name="connsiteX2" fmla="*/ 3416108 w 5397122"/>
              <a:gd name="connsiteY2" fmla="*/ 6858000 h 6858000"/>
              <a:gd name="connsiteX3" fmla="*/ 0 w 5397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122" h="6858000">
                <a:moveTo>
                  <a:pt x="1981014" y="0"/>
                </a:moveTo>
                <a:lnTo>
                  <a:pt x="5397122" y="0"/>
                </a:lnTo>
                <a:lnTo>
                  <a:pt x="34161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2" name="组合 51"/>
          <p:cNvGrpSpPr/>
          <p:nvPr/>
        </p:nvGrpSpPr>
        <p:grpSpPr>
          <a:xfrm>
            <a:off x="654092" y="6223000"/>
            <a:ext cx="2053789" cy="544591"/>
            <a:chOff x="713386" y="1446438"/>
            <a:chExt cx="3151707" cy="835719"/>
          </a:xfrm>
        </p:grpSpPr>
        <p:sp>
          <p:nvSpPr>
            <p:cNvPr id="53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1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</a:t>
            </a:r>
            <a:r>
              <a:rPr lang="en-US" altLang="zh-CN" dirty="0" smtClean="0"/>
              <a:t>.1 </a:t>
            </a:r>
            <a:r>
              <a:rPr lang="zh-CN" altLang="en-US" dirty="0" smtClean="0"/>
              <a:t>密码显示控制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926175" y="5706835"/>
            <a:ext cx="433965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点击“眼镜”图标更换密码的显示</a:t>
            </a:r>
            <a:r>
              <a:rPr lang="zh-CN" altLang="en-US" dirty="0" smtClean="0"/>
              <a:t>与隐藏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1425" y="1513794"/>
            <a:ext cx="4629150" cy="401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90364" y="250275"/>
            <a:ext cx="10858500" cy="82580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</a:t>
            </a:r>
            <a:r>
              <a:rPr lang="en-US" altLang="zh-CN" dirty="0" smtClean="0"/>
              <a:t>.2 </a:t>
            </a:r>
            <a:r>
              <a:rPr lang="zh-CN" altLang="en-US" dirty="0" smtClean="0"/>
              <a:t>用户信息显示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911043" y="4547506"/>
            <a:ext cx="641714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在图中红框地方增加用户（医生）名，点击弹出医生详细信息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4361" y="2886075"/>
            <a:ext cx="1581150" cy="1314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 flipH="1">
            <a:off x="4374849" y="2544143"/>
            <a:ext cx="3753350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5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Q&amp;A</a:t>
            </a:r>
            <a:endParaRPr lang="zh-CN" altLang="en-US" sz="115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南京医科大学（蓝色）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C5881"/>
      </a:accent1>
      <a:accent2>
        <a:srgbClr val="0097C4"/>
      </a:accent2>
      <a:accent3>
        <a:srgbClr val="B8282E"/>
      </a:accent3>
      <a:accent4>
        <a:srgbClr val="FDB812"/>
      </a:accent4>
      <a:accent5>
        <a:srgbClr val="AD8576"/>
      </a:accent5>
      <a:accent6>
        <a:srgbClr val="AC9B9A"/>
      </a:accent6>
      <a:hlink>
        <a:srgbClr val="4472C4"/>
      </a:hlink>
      <a:folHlink>
        <a:srgbClr val="BFBFBF"/>
      </a:folHlink>
    </a:clrScheme>
    <a:fontScheme name="南京医科大学毕业答辩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5000"/>
          </a:lnSpc>
          <a:defRPr dirty="0" smtClean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5004</Words>
  <Application>WPS 文字</Application>
  <PresentationFormat>宽屏</PresentationFormat>
  <Paragraphs>334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汉仪书宋二KW</vt:lpstr>
      <vt:lpstr>Segoe UI</vt:lpstr>
      <vt:lpstr>Consolas</vt:lpstr>
      <vt:lpstr>苹方-简</vt:lpstr>
      <vt:lpstr>微软雅黑</vt:lpstr>
      <vt:lpstr>汉仪旗黑</vt:lpstr>
      <vt:lpstr>等线</vt:lpstr>
      <vt:lpstr>汉仪中等线KW</vt:lpstr>
      <vt:lpstr>方正兰亭超细黑简体</vt:lpstr>
      <vt:lpstr>黑体-简</vt:lpstr>
      <vt:lpstr>Impact</vt:lpstr>
      <vt:lpstr>宋体</vt:lpstr>
      <vt:lpstr>Arial Unicode MS</vt:lpstr>
      <vt:lpstr>Times New Roman</vt:lpstr>
      <vt:lpstr>Calibri</vt:lpstr>
      <vt:lpstr>Helvetica Neue</vt:lpstr>
      <vt:lpstr>微软雅黑</vt:lpstr>
      <vt:lpstr>方正兰亭超细黑简体</vt:lpstr>
      <vt:lpstr>等线</vt:lpstr>
      <vt:lpstr>Office 主题​​</vt:lpstr>
      <vt:lpstr>PowerPoint 演示文稿</vt:lpstr>
      <vt:lpstr>PowerPoint 演示文稿</vt:lpstr>
      <vt:lpstr>课堂任务</vt:lpstr>
      <vt:lpstr>PowerPoint 演示文稿</vt:lpstr>
      <vt:lpstr>1.1 数据库表结构</vt:lpstr>
      <vt:lpstr>PowerPoint 演示文稿</vt:lpstr>
      <vt:lpstr>2.1 springboot介绍</vt:lpstr>
      <vt:lpstr>2.2 使用Eclipse安装Spring Tools插件</vt:lpstr>
      <vt:lpstr>2.2 使用Eclipse创建springboot项目</vt:lpstr>
      <vt:lpstr>2.2 使用Eclipse创建springboot项目</vt:lpstr>
      <vt:lpstr>PowerPoint 演示文稿</vt:lpstr>
      <vt:lpstr>3.1 Vue与组件库Element UI</vt:lpstr>
      <vt:lpstr>PowerPoint 演示文稿</vt:lpstr>
      <vt:lpstr>4.1 医生登录页面</vt:lpstr>
      <vt:lpstr>4.2 功能完善</vt:lpstr>
      <vt:lpstr>PowerPoint 演示文稿</vt:lpstr>
      <vt:lpstr>5.1 CrudRepository自动实现的数据库操作方法</vt:lpstr>
      <vt:lpstr>5.2 用户验证</vt:lpstr>
      <vt:lpstr>5.2 维护Token</vt:lpstr>
      <vt:lpstr>5.2 维护Token</vt:lpstr>
      <vt:lpstr>PowerPoint 演示文稿</vt:lpstr>
      <vt:lpstr>6.1 前端登录功能</vt:lpstr>
      <vt:lpstr>PowerPoint 演示文稿</vt:lpstr>
      <vt:lpstr>7.1 密码显示控制</vt:lpstr>
      <vt:lpstr>7.2 用户信息显示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冰棍 ruoruo</dc:creator>
  <cp:lastModifiedBy>丁海龙</cp:lastModifiedBy>
  <cp:revision>1238</cp:revision>
  <dcterms:created xsi:type="dcterms:W3CDTF">2026-04-24T01:07:59Z</dcterms:created>
  <dcterms:modified xsi:type="dcterms:W3CDTF">2026-04-24T01:07:59Z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EFCFD2C380793C616FC2EA695B9F1EC6_42</vt:lpwstr>
  </property>
  <property fmtid="{D5CDD505-2E9C-101B-9397-08002B2CF9AE}" pid="3" name="KSOProductBuildVer">
    <vt:lpwstr>2052-7.2.2.8955</vt:lpwstr>
  </property>
</Properties>
</file>